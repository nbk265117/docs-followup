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71" r:id="rId5"/>
    <p:sldId id="272" r:id="rId6"/>
    <p:sldId id="273" r:id="rId7"/>
    <p:sldId id="274" r:id="rId8"/>
    <p:sldId id="275" r:id="rId9"/>
    <p:sldId id="287" r:id="rId10"/>
    <p:sldId id="290" r:id="rId11"/>
    <p:sldId id="276" r:id="rId12"/>
    <p:sldId id="277" r:id="rId13"/>
    <p:sldId id="278" r:id="rId14"/>
    <p:sldId id="289" r:id="rId15"/>
    <p:sldId id="282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29F67-0798-428A-A944-E3950D8266C7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11BCB-1146-409B-B30E-5E4C42BC49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8364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E14FB-1975-4AC3-9CF5-67042BD476AC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9377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8D29-9AB4-43FA-9A93-409F1E242D6E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3B584-B6B9-49CC-8DCC-978C9DDFC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3753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8D29-9AB4-43FA-9A93-409F1E242D6E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3B584-B6B9-49CC-8DCC-978C9DDFC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2802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8D29-9AB4-43FA-9A93-409F1E242D6E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3B584-B6B9-49CC-8DCC-978C9DDFC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9708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8D29-9AB4-43FA-9A93-409F1E242D6E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3B584-B6B9-49CC-8DCC-978C9DDFC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42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8D29-9AB4-43FA-9A93-409F1E242D6E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3B584-B6B9-49CC-8DCC-978C9DDFC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80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8D29-9AB4-43FA-9A93-409F1E242D6E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3B584-B6B9-49CC-8DCC-978C9DDFC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42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8D29-9AB4-43FA-9A93-409F1E242D6E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3B584-B6B9-49CC-8DCC-978C9DDFC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723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8D29-9AB4-43FA-9A93-409F1E242D6E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3B584-B6B9-49CC-8DCC-978C9DDFC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4497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8D29-9AB4-43FA-9A93-409F1E242D6E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3B584-B6B9-49CC-8DCC-978C9DDFC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935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8D29-9AB4-43FA-9A93-409F1E242D6E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3B584-B6B9-49CC-8DCC-978C9DDFC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911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8D29-9AB4-43FA-9A93-409F1E242D6E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3B584-B6B9-49CC-8DCC-978C9DDFC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959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78D29-9AB4-43FA-9A93-409F1E242D6E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3B584-B6B9-49CC-8DCC-978C9DDFC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190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gital disruption: risks and opportunities in the shift to online -  Economist Intelligence Unit">
            <a:extLst>
              <a:ext uri="{FF2B5EF4-FFF2-40B4-BE49-F238E27FC236}">
                <a16:creationId xmlns:a16="http://schemas.microsoft.com/office/drawing/2014/main" id="{11E30EFC-92AB-5980-AE28-296727F987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67" b="-1"/>
          <a:stretch/>
        </p:blipFill>
        <p:spPr bwMode="auto">
          <a:xfrm>
            <a:off x="0" y="4139920"/>
            <a:ext cx="12192000" cy="271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5">
            <a:extLst>
              <a:ext uri="{FF2B5EF4-FFF2-40B4-BE49-F238E27FC236}">
                <a16:creationId xmlns:a16="http://schemas.microsoft.com/office/drawing/2014/main" id="{C0E5206B-1227-2E8B-C7B0-58D777897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478" y="1715123"/>
            <a:ext cx="5046468" cy="1413633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r" rtl="0" eaLnBrk="1" fontAlgn="base" hangingPunct="1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Tx/>
              <a:buNone/>
              <a:defRPr sz="2400">
                <a:solidFill>
                  <a:srgbClr val="003366"/>
                </a:solidFill>
                <a:latin typeface="Verdana" pitchFamily="34" charset="0"/>
                <a:ea typeface="+mn-ea"/>
                <a:cs typeface="+mn-cs"/>
              </a:defRPr>
            </a:lvl1pPr>
            <a:lvl2pPr marL="536575" indent="-179388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808080"/>
              </a:buClr>
              <a:buFont typeface="Arial" charset="0"/>
              <a:buChar char="–"/>
              <a:defRPr sz="1200">
                <a:solidFill>
                  <a:srgbClr val="808080"/>
                </a:solidFill>
                <a:latin typeface="+mn-lt"/>
              </a:defRPr>
            </a:lvl2pPr>
            <a:lvl3pPr marL="858838" indent="-142875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Font typeface="Wingdings" pitchFamily="2" charset="2"/>
              <a:buChar char="§"/>
              <a:defRPr sz="1000">
                <a:solidFill>
                  <a:srgbClr val="808080"/>
                </a:solidFill>
                <a:latin typeface="+mn-lt"/>
              </a:defRPr>
            </a:lvl3pPr>
            <a:lvl4pPr marL="1133475" indent="-952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Font typeface="Arial" charset="0"/>
              <a:buChar char="-"/>
              <a:defRPr sz="900">
                <a:solidFill>
                  <a:srgbClr val="808080"/>
                </a:solidFill>
                <a:latin typeface="+mn-lt"/>
              </a:defRPr>
            </a:lvl4pPr>
            <a:lvl5pPr marL="1443038" indent="-130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Char char="•"/>
              <a:defRPr sz="800">
                <a:solidFill>
                  <a:srgbClr val="808080"/>
                </a:solidFill>
                <a:latin typeface="+mn-lt"/>
              </a:defRPr>
            </a:lvl5pPr>
            <a:lvl6pPr marL="1900238" indent="-130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Char char="•"/>
              <a:defRPr sz="800">
                <a:solidFill>
                  <a:srgbClr val="808080"/>
                </a:solidFill>
                <a:latin typeface="+mn-lt"/>
              </a:defRPr>
            </a:lvl6pPr>
            <a:lvl7pPr marL="2357438" indent="-130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Char char="•"/>
              <a:defRPr sz="800">
                <a:solidFill>
                  <a:srgbClr val="808080"/>
                </a:solidFill>
                <a:latin typeface="+mn-lt"/>
              </a:defRPr>
            </a:lvl7pPr>
            <a:lvl8pPr marL="2814638" indent="-130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Char char="•"/>
              <a:defRPr sz="800">
                <a:solidFill>
                  <a:srgbClr val="808080"/>
                </a:solidFill>
                <a:latin typeface="+mn-lt"/>
              </a:defRPr>
            </a:lvl8pPr>
            <a:lvl9pPr marL="3271838" indent="-130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Char char="•"/>
              <a:defRPr sz="800">
                <a:solidFill>
                  <a:srgbClr val="808080"/>
                </a:solidFill>
                <a:latin typeface="+mn-lt"/>
              </a:defRPr>
            </a:lvl9pPr>
          </a:lstStyle>
          <a:p>
            <a:pPr lvl="0" algn="ctr" defTabSz="914400">
              <a:buClr>
                <a:srgbClr val="FFFFFF"/>
              </a:buClr>
              <a:defRPr/>
            </a:pPr>
            <a:r>
              <a:rPr lang="fr-FR" b="1" dirty="0">
                <a:latin typeface="+mj-lt"/>
              </a:rPr>
              <a:t>BOA FOLLOW UP - MVP 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3A12436F-2E32-327F-0469-EB2C1A5A1605}"/>
              </a:ext>
            </a:extLst>
          </p:cNvPr>
          <p:cNvGrpSpPr/>
          <p:nvPr/>
        </p:nvGrpSpPr>
        <p:grpSpPr>
          <a:xfrm>
            <a:off x="7828469" y="2085842"/>
            <a:ext cx="4594679" cy="901537"/>
            <a:chOff x="6285998" y="2160202"/>
            <a:chExt cx="4594679" cy="901537"/>
          </a:xfrm>
        </p:grpSpPr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191922E5-13E4-A5C3-1234-6965553DC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5998" y="2160202"/>
              <a:ext cx="4594679" cy="445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36000" rIns="36000" bIns="3600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33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j-lt"/>
                  <a:ea typeface="+mj-ea"/>
                  <a:cs typeface="+mj-cs"/>
                </a:defRPr>
              </a:lvl1pPr>
              <a:lvl2pPr algn="l" rtl="0" eaLnBrk="1" fontAlgn="base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003366"/>
                  </a:solidFill>
                  <a:latin typeface="Arial" charset="0"/>
                </a:defRPr>
              </a:lvl2pPr>
              <a:lvl3pPr algn="l" rtl="0" eaLnBrk="1" fontAlgn="base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003366"/>
                  </a:solidFill>
                  <a:latin typeface="Arial" charset="0"/>
                </a:defRPr>
              </a:lvl3pPr>
              <a:lvl4pPr algn="l" rtl="0" eaLnBrk="1" fontAlgn="base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003366"/>
                  </a:solidFill>
                  <a:latin typeface="Arial" charset="0"/>
                </a:defRPr>
              </a:lvl4pPr>
              <a:lvl5pPr algn="l" rtl="0" eaLnBrk="1" fontAlgn="base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003366"/>
                  </a:solidFill>
                  <a:latin typeface="Arial" charset="0"/>
                </a:defRPr>
              </a:lvl5pPr>
              <a:lvl6pPr marL="457200" algn="l" rtl="0" eaLnBrk="1" fontAlgn="base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003366"/>
                  </a:solidFill>
                  <a:latin typeface="Arial" charset="0"/>
                </a:defRPr>
              </a:lvl6pPr>
              <a:lvl7pPr marL="914400" algn="l" rtl="0" eaLnBrk="1" fontAlgn="base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003366"/>
                  </a:solidFill>
                  <a:latin typeface="Arial" charset="0"/>
                </a:defRPr>
              </a:lvl7pPr>
              <a:lvl8pPr marL="1371600" algn="l" rtl="0" eaLnBrk="1" fontAlgn="base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003366"/>
                  </a:solidFill>
                  <a:latin typeface="Arial" charset="0"/>
                </a:defRPr>
              </a:lvl8pPr>
              <a:lvl9pPr marL="1828800" algn="l" rtl="0" eaLnBrk="1" fontAlgn="base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003366"/>
                  </a:solidFill>
                  <a:latin typeface="Arial" charset="0"/>
                </a:defRPr>
              </a:lvl9pPr>
            </a:lstStyle>
            <a:p>
              <a:pPr marR="0" defTabSz="914400">
                <a:lnSpc>
                  <a:spcPct val="150000"/>
                </a:lnSpc>
                <a:buClr>
                  <a:srgbClr val="FFFFFF"/>
                </a:buClr>
                <a:buSzTx/>
                <a:tabLst/>
                <a:defRPr/>
              </a:pPr>
              <a:r>
                <a:rPr lang="fr-FR" sz="1800" dirty="0">
                  <a:ea typeface="+mn-ea"/>
                  <a:cs typeface="+mn-cs"/>
                </a:rPr>
                <a:t>BANK OF AFRICA</a:t>
              </a:r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C70F9C20-60AE-A383-9DD3-565587F13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5999" y="2742815"/>
              <a:ext cx="3886200" cy="318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>
              <a:spAutoFit/>
            </a:bodyPr>
            <a:lstStyle/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fr-FR" sz="1600" dirty="0">
                  <a:solidFill>
                    <a:srgbClr val="808080"/>
                  </a:solidFill>
                  <a:latin typeface="+mj-lt"/>
                </a:rPr>
                <a:t>Mars 2026</a:t>
              </a:r>
            </a:p>
          </p:txBody>
        </p:sp>
      </p:grpSp>
      <p:sp>
        <p:nvSpPr>
          <p:cNvPr id="25" name="Line 3">
            <a:extLst>
              <a:ext uri="{FF2B5EF4-FFF2-40B4-BE49-F238E27FC236}">
                <a16:creationId xmlns:a16="http://schemas.microsoft.com/office/drawing/2014/main" id="{211CEE24-B848-E94A-605C-E5A9004CC9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7559" y="2192756"/>
            <a:ext cx="0" cy="936000"/>
          </a:xfrm>
          <a:prstGeom prst="line">
            <a:avLst/>
          </a:prstGeom>
          <a:noFill/>
          <a:ln w="28575">
            <a:solidFill>
              <a:srgbClr val="0033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fr-FR" sz="1400" dirty="0">
              <a:solidFill>
                <a:srgbClr val="003366"/>
              </a:solidFill>
              <a:latin typeface="+mj-lt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3227" y="7268"/>
            <a:ext cx="2688772" cy="64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046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2E0CA655-E2F0-E875-F06B-B1942116E96A}"/>
              </a:ext>
            </a:extLst>
          </p:cNvPr>
          <p:cNvSpPr txBox="1">
            <a:spLocks/>
          </p:cNvSpPr>
          <p:nvPr/>
        </p:nvSpPr>
        <p:spPr>
          <a:xfrm>
            <a:off x="4398727" y="3636613"/>
            <a:ext cx="7443617" cy="1375910"/>
          </a:xfrm>
          <a:prstGeom prst="rect">
            <a:avLst/>
          </a:prstGeom>
        </p:spPr>
        <p:txBody>
          <a:bodyPr vert="horz" lIns="108000" tIns="0" rIns="108000" bIns="0" rtlCol="0" anchor="b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000" i="0" kern="1200" cap="all" baseline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358775" indent="-358775" algn="just" defTabSz="914400" rtl="0" eaLnBrk="1" latinLnBrk="0" hangingPunct="1">
              <a:lnSpc>
                <a:spcPct val="100000"/>
              </a:lnSpc>
              <a:spcBef>
                <a:spcPts val="1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FontTx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8000" indent="-2880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Tahoma" panose="020B0604030504040204" pitchFamily="34" charset="0"/>
              <a:buChar char="›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bg2"/>
              </a:buClr>
              <a:buSzTx/>
              <a:buFont typeface="Tahoma" panose="020B0604030504040204" pitchFamily="34" charset="0"/>
              <a:buChar char="»"/>
              <a:tabLst/>
              <a:defRPr lang="fr-FR" sz="10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2520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Tahoma" panose="020B0604030504040204" pitchFamily="34" charset="0"/>
              <a:buChar char="»"/>
              <a:defRPr lang="fr-FR" sz="10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00000" indent="-2520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Tahoma" panose="020B0604030504040204" pitchFamily="34" charset="0"/>
              <a:buChar char="»"/>
              <a:defRPr lang="fr-FR" sz="10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bg2"/>
              </a:buClr>
              <a:buSzTx/>
              <a:buFont typeface="Tahoma" panose="020B0604030504040204" pitchFamily="34" charset="0"/>
              <a:buChar char="»"/>
              <a:tabLst/>
              <a:defRPr lang="fr-FR" sz="1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0000" indent="-2520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Tahoma" panose="020B0604030504040204" pitchFamily="34" charset="0"/>
              <a:buChar char="»"/>
              <a:defRPr lang="fr-FR" sz="1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fr-FR" sz="1600" b="1" kern="0" dirty="0">
                <a:solidFill>
                  <a:srgbClr val="003366"/>
                </a:solidFill>
                <a:latin typeface="Arial"/>
              </a:rPr>
              <a:t>CONTEXTE ET OBJECTIFS</a:t>
            </a:r>
          </a:p>
          <a:p>
            <a:pPr marL="285750" lvl="0" indent="-28575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fr-FR" sz="1600" b="1" kern="0" dirty="0">
              <a:solidFill>
                <a:srgbClr val="003366"/>
              </a:solidFill>
              <a:latin typeface="Arial"/>
            </a:endParaRPr>
          </a:p>
          <a:p>
            <a:pPr marL="285750" lvl="0" indent="-28575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fr-FR" sz="1600" b="1" kern="0" dirty="0">
                <a:solidFill>
                  <a:srgbClr val="003366"/>
                </a:solidFill>
                <a:latin typeface="Arial"/>
              </a:rPr>
              <a:t>MODULES ET FONCTIONNALITES PRINCIPALES</a:t>
            </a:r>
          </a:p>
          <a:p>
            <a:pPr lvl="0">
              <a:spcBef>
                <a:spcPct val="0"/>
              </a:spcBef>
              <a:defRPr/>
            </a:pPr>
            <a:endParaRPr lang="fr-FR" sz="1600" b="1" kern="0" dirty="0">
              <a:solidFill>
                <a:srgbClr val="003366"/>
              </a:solidFill>
              <a:latin typeface="Arial"/>
            </a:endParaRPr>
          </a:p>
          <a:p>
            <a:pPr marL="285750" lvl="0" indent="-28575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fr-FR" sz="1600" b="1" kern="0" dirty="0">
                <a:solidFill>
                  <a:srgbClr val="003366"/>
                </a:solidFill>
                <a:latin typeface="Arial"/>
              </a:rPr>
              <a:t>PARCOURS UTILISATEURS</a:t>
            </a:r>
          </a:p>
          <a:p>
            <a:pPr marL="285750" lvl="0" indent="-28575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fr-FR" sz="1600" b="1" kern="0" dirty="0">
              <a:solidFill>
                <a:srgbClr val="003366"/>
              </a:solidFill>
              <a:latin typeface="Arial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fr-FR" sz="1600" b="1" kern="0" dirty="0">
                <a:solidFill>
                  <a:srgbClr val="003366"/>
                </a:solidFill>
                <a:latin typeface="Arial"/>
              </a:rPr>
              <a:t>RATTACHEMENT DES UTILISATEURS</a:t>
            </a:r>
          </a:p>
          <a:p>
            <a:pPr marL="285750" lvl="0" indent="-28575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fr-FR" sz="1600" b="1" kern="0" dirty="0">
              <a:solidFill>
                <a:srgbClr val="003366"/>
              </a:solidFill>
              <a:latin typeface="Arial"/>
            </a:endParaRPr>
          </a:p>
          <a:p>
            <a:pPr marL="285750" lvl="0" indent="-28575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fr-FR" sz="1600" b="1" kern="0" dirty="0">
                <a:solidFill>
                  <a:srgbClr val="003366"/>
                </a:solidFill>
                <a:latin typeface="Arial"/>
              </a:rPr>
              <a:t>MATRICES DES FONCTIONNALITES PAR PROFIL</a:t>
            </a:r>
          </a:p>
          <a:p>
            <a:pPr lvl="0">
              <a:spcBef>
                <a:spcPct val="0"/>
              </a:spcBef>
              <a:defRPr/>
            </a:pPr>
            <a:endParaRPr lang="fr-FR" sz="1600" b="1" kern="0" dirty="0">
              <a:solidFill>
                <a:srgbClr val="003366"/>
              </a:solidFill>
              <a:latin typeface="Arial"/>
            </a:endParaRPr>
          </a:p>
          <a:p>
            <a:pPr marL="285750" lvl="0" indent="-28575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fr-FR" sz="1600" b="1" kern="0" dirty="0">
                <a:solidFill>
                  <a:srgbClr val="003366"/>
                </a:solidFill>
                <a:latin typeface="Arial"/>
              </a:rPr>
              <a:t>Planning prévisionnel </a:t>
            </a:r>
          </a:p>
          <a:p>
            <a:pPr marL="285750" lvl="0" indent="-28575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fr-FR" sz="1600" b="1" kern="0" dirty="0">
              <a:solidFill>
                <a:srgbClr val="003366"/>
              </a:solidFill>
              <a:latin typeface="Arial"/>
            </a:endParaRPr>
          </a:p>
          <a:p>
            <a:pPr marL="285750" lvl="0" indent="-28575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fr-FR" sz="1600" b="1" kern="0" dirty="0">
                <a:solidFill>
                  <a:srgbClr val="003366"/>
                </a:solidFill>
                <a:latin typeface="Arial"/>
              </a:rPr>
              <a:t>ANNEXES</a:t>
            </a:r>
          </a:p>
          <a:p>
            <a:pPr marL="644525" lvl="1" indent="-285750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fr-FR" sz="1600" b="1" kern="0" dirty="0">
                <a:solidFill>
                  <a:srgbClr val="003366"/>
                </a:solidFill>
                <a:latin typeface="Arial"/>
              </a:rPr>
              <a:t>ANALYSE DES MODELES D’OBSERVATIONS</a:t>
            </a:r>
          </a:p>
          <a:p>
            <a:pPr marL="285750" lvl="0" indent="-28575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fr-FR" sz="1600" b="1" kern="0" dirty="0">
              <a:solidFill>
                <a:srgbClr val="003366"/>
              </a:solidFill>
              <a:latin typeface="Arial"/>
            </a:endParaRPr>
          </a:p>
          <a:p>
            <a:pPr marL="644525" lvl="1" indent="-28575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fr-FR" sz="1600" b="1" kern="0" dirty="0">
              <a:solidFill>
                <a:srgbClr val="003366"/>
              </a:solidFill>
              <a:latin typeface="Arial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067" y="52353"/>
            <a:ext cx="2688772" cy="64499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9D190FF-C44B-F3F6-2867-ECE03B5F516C}"/>
              </a:ext>
            </a:extLst>
          </p:cNvPr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" name="Picture 2" descr="Digital disruption: risks and opportunities in the shift to online -  Economist Intelligence Unit">
            <a:extLst>
              <a:ext uri="{FF2B5EF4-FFF2-40B4-BE49-F238E27FC236}">
                <a16:creationId xmlns:a16="http://schemas.microsoft.com/office/drawing/2014/main" id="{11E30EFC-92AB-5980-AE28-296727F987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67" b="-1"/>
          <a:stretch/>
        </p:blipFill>
        <p:spPr bwMode="auto">
          <a:xfrm rot="5400000">
            <a:off x="-1505726" y="1511793"/>
            <a:ext cx="6850732" cy="3841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00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253310" y="993843"/>
            <a:ext cx="11737075" cy="156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82" tIns="47891" rIns="95782" bIns="47891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1" i="0" u="none" strike="noStrike" kern="1200" cap="small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45600" y="735294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CONTEXTE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2E0CA655-E2F0-E875-F06B-B1942116E96A}"/>
              </a:ext>
            </a:extLst>
          </p:cNvPr>
          <p:cNvSpPr txBox="1">
            <a:spLocks/>
          </p:cNvSpPr>
          <p:nvPr/>
        </p:nvSpPr>
        <p:spPr>
          <a:xfrm>
            <a:off x="253310" y="266623"/>
            <a:ext cx="11511677" cy="260350"/>
          </a:xfrm>
          <a:prstGeom prst="rect">
            <a:avLst/>
          </a:prstGeom>
        </p:spPr>
        <p:txBody>
          <a:bodyPr vert="horz" lIns="108000" tIns="0" rIns="108000" bIns="0" rtlCol="0" anchor="b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000" i="0" kern="1200" cap="all" baseline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358775" indent="-358775" algn="just" defTabSz="914400" rtl="0" eaLnBrk="1" latinLnBrk="0" hangingPunct="1">
              <a:lnSpc>
                <a:spcPct val="100000"/>
              </a:lnSpc>
              <a:spcBef>
                <a:spcPts val="1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FontTx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8000" indent="-2880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Tahoma" panose="020B0604030504040204" pitchFamily="34" charset="0"/>
              <a:buChar char="›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bg2"/>
              </a:buClr>
              <a:buSzTx/>
              <a:buFont typeface="Tahoma" panose="020B0604030504040204" pitchFamily="34" charset="0"/>
              <a:buChar char="»"/>
              <a:tabLst/>
              <a:defRPr lang="fr-FR" sz="10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2520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Tahoma" panose="020B0604030504040204" pitchFamily="34" charset="0"/>
              <a:buChar char="»"/>
              <a:defRPr lang="fr-FR" sz="10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00000" indent="-2520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Tahoma" panose="020B0604030504040204" pitchFamily="34" charset="0"/>
              <a:buChar char="»"/>
              <a:defRPr lang="fr-FR" sz="10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bg2"/>
              </a:buClr>
              <a:buSzTx/>
              <a:buFont typeface="Tahoma" panose="020B0604030504040204" pitchFamily="34" charset="0"/>
              <a:buChar char="»"/>
              <a:tabLst/>
              <a:defRPr lang="fr-FR" sz="1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0000" indent="-2520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Tahoma" panose="020B0604030504040204" pitchFamily="34" charset="0"/>
              <a:buChar char="»"/>
              <a:defRPr lang="fr-FR" sz="1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defRPr/>
            </a:pPr>
            <a:r>
              <a:rPr lang="fr-FR" sz="1600" b="1" kern="0" dirty="0">
                <a:solidFill>
                  <a:srgbClr val="003366"/>
                </a:solidFill>
                <a:latin typeface="Arial"/>
              </a:rPr>
              <a:t>CONTEXTE ET OBJECTIFS 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4FD5FF3-7176-468A-18C9-5D52A496CD01}"/>
              </a:ext>
            </a:extLst>
          </p:cNvPr>
          <p:cNvCxnSpPr>
            <a:cxnSpLocks/>
          </p:cNvCxnSpPr>
          <p:nvPr/>
        </p:nvCxnSpPr>
        <p:spPr bwMode="auto">
          <a:xfrm>
            <a:off x="346636" y="975199"/>
            <a:ext cx="11496280" cy="0"/>
          </a:xfrm>
          <a:prstGeom prst="line">
            <a:avLst/>
          </a:prstGeom>
          <a:solidFill>
            <a:srgbClr val="EAEAEA"/>
          </a:solidFill>
          <a:ln w="1905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Image 12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227" y="7268"/>
            <a:ext cx="2688772" cy="64499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9D190FF-C44B-F3F6-2867-ECE03B5F516C}"/>
              </a:ext>
            </a:extLst>
          </p:cNvPr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46636" y="2134472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defPPr>
              <a:defRPr lang="fr-FR"/>
            </a:defPPr>
            <a:lvl1pPr lvl="0">
              <a:lnSpc>
                <a:spcPct val="100000"/>
              </a:lnSpc>
              <a:spcBef>
                <a:spcPct val="0"/>
              </a:spcBef>
              <a:buNone/>
              <a:defRPr sz="1400" b="1" kern="0" cap="all" baseline="0">
                <a:solidFill>
                  <a:srgbClr val="3366FF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fr-FR" dirty="0"/>
              <a:t>OBJECTIFS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4FD5FF3-7176-468A-18C9-5D52A496CD01}"/>
              </a:ext>
            </a:extLst>
          </p:cNvPr>
          <p:cNvCxnSpPr>
            <a:cxnSpLocks/>
          </p:cNvCxnSpPr>
          <p:nvPr/>
        </p:nvCxnSpPr>
        <p:spPr bwMode="auto">
          <a:xfrm>
            <a:off x="347672" y="2383902"/>
            <a:ext cx="11496280" cy="0"/>
          </a:xfrm>
          <a:prstGeom prst="line">
            <a:avLst/>
          </a:prstGeom>
          <a:solidFill>
            <a:srgbClr val="EAEAEA"/>
          </a:solidFill>
          <a:ln w="1905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3164FD09-4135-9D14-F5E0-29BCC3984306}"/>
              </a:ext>
            </a:extLst>
          </p:cNvPr>
          <p:cNvSpPr txBox="1"/>
          <p:nvPr/>
        </p:nvSpPr>
        <p:spPr>
          <a:xfrm>
            <a:off x="373707" y="2484969"/>
            <a:ext cx="11510641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defRPr/>
            </a:pPr>
            <a:r>
              <a:rPr lang="fr-FR" sz="1400" dirty="0">
                <a:solidFill>
                  <a:schemeClr val="tx2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Mettre à disposition une solution permettant de suivre en continu l’appropriation des pratiques commerciales et managériales au sein du réseau, et d’en assurer un pilotage structuré.  La nouvelle solution devra permettre de: </a:t>
            </a:r>
          </a:p>
          <a:p>
            <a:pPr algn="just" defTabSz="914400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defRPr/>
            </a:pPr>
            <a:endParaRPr lang="fr-FR" sz="1400" b="1" dirty="0">
              <a:solidFill>
                <a:schemeClr val="tx2"/>
              </a:solidFill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 defTabSz="914400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Harmoniser </a:t>
            </a:r>
            <a:r>
              <a:rPr lang="fr-FR" sz="1400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les pratiques de suivi et d’accompagnement terrain entre les différentes régions et acteurs afin d’assurer une approche cohérente et homogène.</a:t>
            </a:r>
          </a:p>
          <a:p>
            <a:pPr marL="285750" indent="-285750" algn="just" defTabSz="914400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endParaRPr lang="fr-FR" sz="1400" b="1" dirty="0">
              <a:solidFill>
                <a:schemeClr val="tx2"/>
              </a:solidFill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 defTabSz="914400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Structurer et fiabiliser </a:t>
            </a:r>
            <a:r>
              <a:rPr lang="fr-FR" sz="1400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la collecte et l’exploitation des données terrain pour permettre une analyse consolidée et utile à la prise de décision.</a:t>
            </a:r>
          </a:p>
          <a:p>
            <a:pPr marL="285750" indent="-285750" algn="just" defTabSz="914400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endParaRPr lang="fr-FR" sz="1400" b="1" dirty="0">
              <a:solidFill>
                <a:schemeClr val="tx2"/>
              </a:solidFill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 defTabSz="914400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Renforcer la traçabilité </a:t>
            </a:r>
            <a:r>
              <a:rPr lang="fr-FR" sz="1400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des actions d’accompagnement, du diagnostic initial jusqu’au suivi des résultats, pour garantir un pilotage transparent et mesurable.</a:t>
            </a:r>
          </a:p>
          <a:p>
            <a:pPr marL="285750" indent="-285750" algn="just" defTabSz="914400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endParaRPr lang="fr-FR" sz="1400" b="1" dirty="0">
              <a:solidFill>
                <a:schemeClr val="tx2"/>
              </a:solidFill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 defTabSz="914400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fr-FR" sz="1400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Offrir au management </a:t>
            </a:r>
            <a:r>
              <a:rPr lang="fr-FR" sz="1400" b="1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une vision continue et consolidée </a:t>
            </a:r>
            <a:r>
              <a:rPr lang="fr-FR" sz="1400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de l’appropriation des pratiques sur le terrain, grâce à des outils de </a:t>
            </a:r>
            <a:r>
              <a:rPr lang="fr-FR" sz="1400" dirty="0" err="1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reporting</a:t>
            </a:r>
            <a:r>
              <a:rPr lang="fr-FR" sz="1400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 et de pilotage adaptés.</a:t>
            </a:r>
          </a:p>
        </p:txBody>
      </p:sp>
      <p:sp>
        <p:nvSpPr>
          <p:cNvPr id="3" name="Rectangle 2"/>
          <p:cNvSpPr/>
          <p:nvPr/>
        </p:nvSpPr>
        <p:spPr>
          <a:xfrm>
            <a:off x="362033" y="994494"/>
            <a:ext cx="11496280" cy="1269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defRPr/>
            </a:pPr>
            <a:r>
              <a:rPr lang="fr-FR" sz="1400" dirty="0">
                <a:solidFill>
                  <a:schemeClr val="tx2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Dans le cadre de sa transformation, la banque souhaite se doter d’une solution digitale dédiée à l’accompagnement et au pilotage des pratiques commerciales et managériales du réseau.</a:t>
            </a:r>
            <a:br>
              <a:rPr lang="fr-FR" sz="1400" dirty="0">
                <a:solidFill>
                  <a:schemeClr val="tx2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1400" dirty="0">
                <a:solidFill>
                  <a:schemeClr val="tx2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La nouvelle solution a vocation à devenir l’outil de référence pour le suivi de l’appropriation des pratiques pour une transformation mesurable, homogène et durable des pratiques terrain. </a:t>
            </a:r>
            <a:endParaRPr lang="fr-FR" sz="1400" b="1" dirty="0">
              <a:solidFill>
                <a:schemeClr val="tx2"/>
              </a:solidFill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fr-FR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58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1239" y="200165"/>
            <a:ext cx="11511677" cy="702592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fr-FR" sz="1600" b="1" kern="0" cap="all" dirty="0">
                <a:solidFill>
                  <a:srgbClr val="003366"/>
                </a:solidFill>
                <a:latin typeface="Arial"/>
                <a:ea typeface="+mn-ea"/>
                <a:cs typeface="+mn-cs"/>
              </a:rPr>
              <a:t>MVP: OBSERVATIONS des pratiques commerciales et managériales</a:t>
            </a:r>
          </a:p>
          <a:p>
            <a:pPr algn="just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Périmètre implémenté sur appsheet </a:t>
            </a:r>
          </a:p>
          <a:p>
            <a:pPr algn="just">
              <a:defRPr/>
            </a:pPr>
            <a:endParaRPr lang="fr-FR" sz="1600" b="1" kern="0" cap="all" dirty="0">
              <a:solidFill>
                <a:srgbClr val="003366"/>
              </a:solidFill>
              <a:latin typeface="Arial"/>
              <a:ea typeface="+mn-ea"/>
              <a:cs typeface="+mn-cs"/>
            </a:endParaRPr>
          </a:p>
          <a:p>
            <a:pPr algn="just">
              <a:defRPr/>
            </a:pPr>
            <a:endParaRPr lang="fr-FR" sz="1600" b="1" kern="0" cap="all" dirty="0">
              <a:solidFill>
                <a:srgbClr val="003366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3227" y="7268"/>
            <a:ext cx="2688772" cy="64499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9D190FF-C44B-F3F6-2867-ECE03B5F516C}"/>
              </a:ext>
            </a:extLst>
          </p:cNvPr>
          <p:cNvSpPr/>
          <p:nvPr/>
        </p:nvSpPr>
        <p:spPr>
          <a:xfrm>
            <a:off x="0" y="-71120"/>
            <a:ext cx="12193200" cy="900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4FD5FF3-7176-468A-18C9-5D52A496CD01}"/>
              </a:ext>
            </a:extLst>
          </p:cNvPr>
          <p:cNvCxnSpPr>
            <a:cxnSpLocks/>
          </p:cNvCxnSpPr>
          <p:nvPr/>
        </p:nvCxnSpPr>
        <p:spPr bwMode="auto">
          <a:xfrm>
            <a:off x="346636" y="711245"/>
            <a:ext cx="11496280" cy="0"/>
          </a:xfrm>
          <a:prstGeom prst="line">
            <a:avLst/>
          </a:prstGeom>
          <a:solidFill>
            <a:srgbClr val="EAEAEA"/>
          </a:solidFill>
          <a:ln w="1905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Espace réservé du numéro de diapositive 6"/>
          <p:cNvSpPr txBox="1">
            <a:spLocks/>
          </p:cNvSpPr>
          <p:nvPr/>
        </p:nvSpPr>
        <p:spPr>
          <a:xfrm>
            <a:off x="11336489" y="6523356"/>
            <a:ext cx="2604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86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1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B095-A01A-5545-8D33-EA3FEB05C605}" type="slidenum">
              <a:rPr kumimoji="0" lang="fr-FR" sz="105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1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C4308859-AD24-5332-72C1-AB0115626596}"/>
              </a:ext>
            </a:extLst>
          </p:cNvPr>
          <p:cNvGrpSpPr/>
          <p:nvPr/>
        </p:nvGrpSpPr>
        <p:grpSpPr>
          <a:xfrm>
            <a:off x="844264" y="1047614"/>
            <a:ext cx="6888255" cy="2249700"/>
            <a:chOff x="844264" y="999370"/>
            <a:chExt cx="6888255" cy="2142471"/>
          </a:xfrm>
        </p:grpSpPr>
        <p:sp>
          <p:nvSpPr>
            <p:cNvPr id="12" name="Rectangle : coins arrondis 275">
              <a:extLst>
                <a:ext uri="{FF2B5EF4-FFF2-40B4-BE49-F238E27FC236}">
                  <a16:creationId xmlns:a16="http://schemas.microsoft.com/office/drawing/2014/main" id="{A816ED47-98E9-6E7F-6A0F-FA82F75EDC82}"/>
                </a:ext>
              </a:extLst>
            </p:cNvPr>
            <p:cNvSpPr/>
            <p:nvPr/>
          </p:nvSpPr>
          <p:spPr>
            <a:xfrm>
              <a:off x="876184" y="1003036"/>
              <a:ext cx="2620150" cy="316992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>
                  <a:latin typeface="+mj-lt"/>
                </a:rPr>
                <a:t>Gestion des observations   </a:t>
              </a:r>
            </a:p>
          </p:txBody>
        </p:sp>
        <p:sp>
          <p:nvSpPr>
            <p:cNvPr id="13" name="TextBox 4079">
              <a:extLst>
                <a:ext uri="{FF2B5EF4-FFF2-40B4-BE49-F238E27FC236}">
                  <a16:creationId xmlns:a16="http://schemas.microsoft.com/office/drawing/2014/main" id="{99E3F133-E4E6-897B-E823-A642AE52B4C4}"/>
                </a:ext>
              </a:extLst>
            </p:cNvPr>
            <p:cNvSpPr txBox="1"/>
            <p:nvPr/>
          </p:nvSpPr>
          <p:spPr>
            <a:xfrm>
              <a:off x="844264" y="1331126"/>
              <a:ext cx="2583983" cy="14948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Consulter  les modèles d’observations affectés au profil connecté</a:t>
              </a: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Saisir des observations à partir des modèles prédéfinis et affectés au profil connecté </a:t>
              </a: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Consulter  les observations  saisies par le profil connecté</a:t>
              </a:r>
            </a:p>
          </p:txBody>
        </p:sp>
        <p:sp>
          <p:nvSpPr>
            <p:cNvPr id="14" name="Rectangle : coins arrondis 275">
              <a:extLst>
                <a:ext uri="{FF2B5EF4-FFF2-40B4-BE49-F238E27FC236}">
                  <a16:creationId xmlns:a16="http://schemas.microsoft.com/office/drawing/2014/main" id="{AD24B9A5-61F9-D74D-2DC2-6A5317F5683C}"/>
                </a:ext>
              </a:extLst>
            </p:cNvPr>
            <p:cNvSpPr/>
            <p:nvPr/>
          </p:nvSpPr>
          <p:spPr>
            <a:xfrm>
              <a:off x="4489909" y="999370"/>
              <a:ext cx="3011104" cy="457889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>
                  <a:latin typeface="+mj-lt"/>
                </a:rPr>
                <a:t>Gestion des plans d’accompagnement</a:t>
              </a:r>
            </a:p>
          </p:txBody>
        </p:sp>
        <p:sp>
          <p:nvSpPr>
            <p:cNvPr id="15" name="TextBox 4079">
              <a:extLst>
                <a:ext uri="{FF2B5EF4-FFF2-40B4-BE49-F238E27FC236}">
                  <a16:creationId xmlns:a16="http://schemas.microsoft.com/office/drawing/2014/main" id="{AAA6097D-1AE2-2DF8-FB67-778146D8E794}"/>
                </a:ext>
              </a:extLst>
            </p:cNvPr>
            <p:cNvSpPr txBox="1"/>
            <p:nvPr/>
          </p:nvSpPr>
          <p:spPr>
            <a:xfrm>
              <a:off x="4488706" y="1471133"/>
              <a:ext cx="3243813" cy="1670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</a:rPr>
                <a:t>Création et gestion des plans d’accompagnement et de formations (thématiques, objectifs, </a:t>
              </a:r>
              <a:r>
                <a:rPr lang="fr-FR" sz="1200" dirty="0" err="1">
                  <a:solidFill>
                    <a:schemeClr val="bg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</a:rPr>
                <a:t>etc</a:t>
              </a:r>
              <a:r>
                <a:rPr lang="fr-FR" sz="1200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</a:rPr>
                <a:t>)</a:t>
              </a: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</a:rPr>
                <a:t>Validation des plans de formations? </a:t>
              </a: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</a:rPr>
                <a:t>Planification des plans de formation</a:t>
              </a: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</a:rPr>
                <a:t>Affectation des plans de formations aux animateur</a:t>
              </a: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</a:rPr>
                <a:t>Suivi des comptes rendus et traçabilité</a:t>
              </a: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</a:rPr>
                <a:t>Export des données (PDF / Excel)</a:t>
              </a:r>
            </a:p>
          </p:txBody>
        </p:sp>
      </p:grp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D7739FBC-4338-ACFF-EEE9-525D253C2CCD}"/>
              </a:ext>
            </a:extLst>
          </p:cNvPr>
          <p:cNvCxnSpPr>
            <a:cxnSpLocks/>
          </p:cNvCxnSpPr>
          <p:nvPr/>
        </p:nvCxnSpPr>
        <p:spPr>
          <a:xfrm flipH="1">
            <a:off x="3740623" y="1171905"/>
            <a:ext cx="49122" cy="5688000"/>
          </a:xfrm>
          <a:prstGeom prst="straightConnector1">
            <a:avLst/>
          </a:prstGeom>
          <a:ln w="9525">
            <a:solidFill>
              <a:schemeClr val="tx2">
                <a:lumMod val="75000"/>
              </a:schemeClr>
            </a:solidFill>
            <a:prstDash val="sysDot"/>
            <a:headEnd type="none"/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F1193976-4A68-48EA-BE94-053E2EF39AD5}"/>
              </a:ext>
            </a:extLst>
          </p:cNvPr>
          <p:cNvCxnSpPr>
            <a:cxnSpLocks/>
          </p:cNvCxnSpPr>
          <p:nvPr/>
        </p:nvCxnSpPr>
        <p:spPr>
          <a:xfrm flipH="1">
            <a:off x="7862511" y="1148803"/>
            <a:ext cx="49122" cy="5688000"/>
          </a:xfrm>
          <a:prstGeom prst="straightConnector1">
            <a:avLst/>
          </a:prstGeom>
          <a:ln w="9525">
            <a:solidFill>
              <a:schemeClr val="tx2">
                <a:lumMod val="75000"/>
              </a:schemeClr>
            </a:solidFill>
            <a:prstDash val="sysDot"/>
            <a:headEnd type="none"/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D3138C74-97B6-DD7A-4149-FDCDE06CEE68}"/>
              </a:ext>
            </a:extLst>
          </p:cNvPr>
          <p:cNvGrpSpPr/>
          <p:nvPr/>
        </p:nvGrpSpPr>
        <p:grpSpPr>
          <a:xfrm>
            <a:off x="878745" y="3531276"/>
            <a:ext cx="2724290" cy="2776012"/>
            <a:chOff x="914637" y="1640786"/>
            <a:chExt cx="2724290" cy="838741"/>
          </a:xfrm>
        </p:grpSpPr>
        <p:sp>
          <p:nvSpPr>
            <p:cNvPr id="19" name="Rectangle : coins arrondis 275">
              <a:extLst>
                <a:ext uri="{FF2B5EF4-FFF2-40B4-BE49-F238E27FC236}">
                  <a16:creationId xmlns:a16="http://schemas.microsoft.com/office/drawing/2014/main" id="{0FB95ACC-AE2C-499B-425C-97EFFA0D7565}"/>
                </a:ext>
              </a:extLst>
            </p:cNvPr>
            <p:cNvSpPr/>
            <p:nvPr/>
          </p:nvSpPr>
          <p:spPr>
            <a:xfrm>
              <a:off x="933071" y="1640786"/>
              <a:ext cx="2599154" cy="94832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>
                  <a:latin typeface="+mj-lt"/>
                </a:rPr>
                <a:t>Reporting </a:t>
              </a:r>
              <a:endParaRPr lang="fr-FR" sz="1400" dirty="0">
                <a:latin typeface="+mj-lt"/>
              </a:endParaRPr>
            </a:p>
          </p:txBody>
        </p:sp>
        <p:sp>
          <p:nvSpPr>
            <p:cNvPr id="20" name="TextBox 4079">
              <a:extLst>
                <a:ext uri="{FF2B5EF4-FFF2-40B4-BE49-F238E27FC236}">
                  <a16:creationId xmlns:a16="http://schemas.microsoft.com/office/drawing/2014/main" id="{8D4FC3CB-A436-9D27-343C-FE048A35FF88}"/>
                </a:ext>
              </a:extLst>
            </p:cNvPr>
            <p:cNvSpPr txBox="1"/>
            <p:nvPr/>
          </p:nvSpPr>
          <p:spPr>
            <a:xfrm>
              <a:off x="914637" y="1716470"/>
              <a:ext cx="2724290" cy="418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Consulter les résultats des observations saisies par le profil connecté ainsi que celles relatives à son périmètre saisies par d’autres intervenants habilités</a:t>
              </a: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Télécharger les résultats des observations sous format Excel</a:t>
              </a:r>
            </a:p>
          </p:txBody>
        </p:sp>
        <p:sp>
          <p:nvSpPr>
            <p:cNvPr id="21" name="Rectangle : coins arrondis 275">
              <a:extLst>
                <a:ext uri="{FF2B5EF4-FFF2-40B4-BE49-F238E27FC236}">
                  <a16:creationId xmlns:a16="http://schemas.microsoft.com/office/drawing/2014/main" id="{AFA4D58B-43EC-06B2-CBE9-1882268FFA7C}"/>
                </a:ext>
              </a:extLst>
            </p:cNvPr>
            <p:cNvSpPr/>
            <p:nvPr/>
          </p:nvSpPr>
          <p:spPr>
            <a:xfrm>
              <a:off x="933072" y="2135100"/>
              <a:ext cx="2599154" cy="9335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>
                  <a:latin typeface="+mj-lt"/>
                </a:rPr>
                <a:t>Dashboard </a:t>
              </a:r>
            </a:p>
          </p:txBody>
        </p:sp>
        <p:sp>
          <p:nvSpPr>
            <p:cNvPr id="22" name="TextBox 4079">
              <a:extLst>
                <a:ext uri="{FF2B5EF4-FFF2-40B4-BE49-F238E27FC236}">
                  <a16:creationId xmlns:a16="http://schemas.microsoft.com/office/drawing/2014/main" id="{B4D52C39-0C03-877A-1546-758CF922EE45}"/>
                </a:ext>
              </a:extLst>
            </p:cNvPr>
            <p:cNvSpPr txBox="1"/>
            <p:nvPr/>
          </p:nvSpPr>
          <p:spPr>
            <a:xfrm>
              <a:off x="920501" y="2228451"/>
              <a:ext cx="2684517" cy="2510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171446" indent="-171446" defTabSz="457189">
                <a:buFont typeface="Arial" panose="020B0604020202020204" pitchFamily="34" charset="0"/>
                <a:buChar char="•"/>
                <a:defRPr sz="1200">
                  <a:solidFill>
                    <a:schemeClr val="bg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</a:defRPr>
              </a:lvl1pPr>
            </a:lstStyle>
            <a:p>
              <a:r>
                <a:rPr lang="fr-FR" dirty="0"/>
                <a:t>Tableaux de bord dynamiques</a:t>
              </a:r>
            </a:p>
            <a:p>
              <a:r>
                <a:rPr lang="fr-FR" dirty="0"/>
                <a:t>Visualisation graphique des résultats </a:t>
              </a:r>
            </a:p>
            <a:p>
              <a:r>
                <a:rPr lang="fr-FR" dirty="0"/>
                <a:t>Suivi des indicateurs d’appropriation des pratiques </a:t>
              </a: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9C4AAF16-77EC-AF44-3757-BE876E7E77D3}"/>
              </a:ext>
            </a:extLst>
          </p:cNvPr>
          <p:cNvGrpSpPr/>
          <p:nvPr/>
        </p:nvGrpSpPr>
        <p:grpSpPr>
          <a:xfrm>
            <a:off x="8676640" y="1072392"/>
            <a:ext cx="2920285" cy="3696783"/>
            <a:chOff x="359006" y="1003036"/>
            <a:chExt cx="2925413" cy="3696783"/>
          </a:xfrm>
        </p:grpSpPr>
        <p:sp>
          <p:nvSpPr>
            <p:cNvPr id="24" name="Rectangle : coins arrondis 275">
              <a:extLst>
                <a:ext uri="{FF2B5EF4-FFF2-40B4-BE49-F238E27FC236}">
                  <a16:creationId xmlns:a16="http://schemas.microsoft.com/office/drawing/2014/main" id="{6BD34630-F036-A639-DF05-C68D334E1F8B}"/>
                </a:ext>
              </a:extLst>
            </p:cNvPr>
            <p:cNvSpPr/>
            <p:nvPr/>
          </p:nvSpPr>
          <p:spPr>
            <a:xfrm>
              <a:off x="359006" y="1003036"/>
              <a:ext cx="2790601" cy="291439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>
                  <a:latin typeface="+mj-lt"/>
                </a:rPr>
                <a:t>Administration </a:t>
              </a:r>
            </a:p>
          </p:txBody>
        </p:sp>
        <p:sp>
          <p:nvSpPr>
            <p:cNvPr id="25" name="TextBox 4079">
              <a:extLst>
                <a:ext uri="{FF2B5EF4-FFF2-40B4-BE49-F238E27FC236}">
                  <a16:creationId xmlns:a16="http://schemas.microsoft.com/office/drawing/2014/main" id="{1C600F2A-A001-3B80-DE53-FFB3B1D0592B}"/>
                </a:ext>
              </a:extLst>
            </p:cNvPr>
            <p:cNvSpPr txBox="1"/>
            <p:nvPr/>
          </p:nvSpPr>
          <p:spPr>
            <a:xfrm>
              <a:off x="359006" y="1320866"/>
              <a:ext cx="282899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Gérer les rôles et les habilitations de saisie et de consultation des observations </a:t>
              </a: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Créer des modèles d’observations et leur affectation aux profils adéquats </a:t>
              </a: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</a:rPr>
                <a:t>Rôle d'administrateur fonctionnel</a:t>
              </a: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endParaRPr lang="fr-FR" sz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6" name="Rectangle : coins arrondis 275">
              <a:extLst>
                <a:ext uri="{FF2B5EF4-FFF2-40B4-BE49-F238E27FC236}">
                  <a16:creationId xmlns:a16="http://schemas.microsoft.com/office/drawing/2014/main" id="{92BBDA40-BA19-621F-0431-DE9C1EDE280D}"/>
                </a:ext>
              </a:extLst>
            </p:cNvPr>
            <p:cNvSpPr/>
            <p:nvPr/>
          </p:nvSpPr>
          <p:spPr>
            <a:xfrm>
              <a:off x="359006" y="2815813"/>
              <a:ext cx="2795194" cy="319564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>
                  <a:latin typeface="+mj-lt"/>
                </a:rPr>
                <a:t>Accessibilité multi-supports </a:t>
              </a:r>
            </a:p>
          </p:txBody>
        </p:sp>
        <p:sp>
          <p:nvSpPr>
            <p:cNvPr id="27" name="TextBox 4079">
              <a:extLst>
                <a:ext uri="{FF2B5EF4-FFF2-40B4-BE49-F238E27FC236}">
                  <a16:creationId xmlns:a16="http://schemas.microsoft.com/office/drawing/2014/main" id="{FFFE4538-24BA-BAED-B63C-79AD63DCAA29}"/>
                </a:ext>
              </a:extLst>
            </p:cNvPr>
            <p:cNvSpPr txBox="1"/>
            <p:nvPr/>
          </p:nvSpPr>
          <p:spPr>
            <a:xfrm>
              <a:off x="359006" y="3135377"/>
              <a:ext cx="292541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Console d’administration Web </a:t>
              </a: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Accès Web des utilisateurs </a:t>
              </a: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Accès Mobile (Android, IOS</a:t>
              </a:r>
              <a:r>
                <a:rPr lang="fr-FR" sz="1000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) </a:t>
              </a: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endParaRPr lang="fr-FR" sz="10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endParaRPr>
            </a:p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endParaRPr lang="fr-FR" sz="10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8" name="Rectangle : coins arrondis 275">
              <a:extLst>
                <a:ext uri="{FF2B5EF4-FFF2-40B4-BE49-F238E27FC236}">
                  <a16:creationId xmlns:a16="http://schemas.microsoft.com/office/drawing/2014/main" id="{BAC978AC-EFBD-E3A9-20E8-85E409D0479B}"/>
                </a:ext>
              </a:extLst>
            </p:cNvPr>
            <p:cNvSpPr/>
            <p:nvPr/>
          </p:nvSpPr>
          <p:spPr>
            <a:xfrm>
              <a:off x="359006" y="3886730"/>
              <a:ext cx="2787583" cy="365749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>
                  <a:latin typeface="+mj-lt"/>
                </a:rPr>
                <a:t>Traçabilité</a:t>
              </a:r>
            </a:p>
          </p:txBody>
        </p:sp>
        <p:sp>
          <p:nvSpPr>
            <p:cNvPr id="29" name="TextBox 4079">
              <a:extLst>
                <a:ext uri="{FF2B5EF4-FFF2-40B4-BE49-F238E27FC236}">
                  <a16:creationId xmlns:a16="http://schemas.microsoft.com/office/drawing/2014/main" id="{83B41C6B-A647-E382-64A5-D7B1F0EE6163}"/>
                </a:ext>
              </a:extLst>
            </p:cNvPr>
            <p:cNvSpPr txBox="1"/>
            <p:nvPr/>
          </p:nvSpPr>
          <p:spPr>
            <a:xfrm>
              <a:off x="359006" y="4238154"/>
              <a:ext cx="29208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46" indent="-171446" defTabSz="457189">
                <a:buFont typeface="Arial" panose="020B0604020202020204" pitchFamily="34" charset="0"/>
                <a:buChar char="•"/>
                <a:defRPr/>
              </a:pPr>
              <a:r>
                <a:rPr lang="fr-FR" sz="1200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Tracer l’historique des modifications (utilisateurs, formulaires, </a:t>
              </a:r>
              <a:r>
                <a:rPr lang="fr-FR" sz="1200" dirty="0" err="1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etc</a:t>
              </a:r>
              <a:r>
                <a:rPr lang="fr-FR" sz="1200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) </a:t>
              </a:r>
            </a:p>
          </p:txBody>
        </p:sp>
      </p:grpSp>
      <p:sp>
        <p:nvSpPr>
          <p:cNvPr id="30" name="Rectangle : coins arrondis 275">
            <a:extLst>
              <a:ext uri="{FF2B5EF4-FFF2-40B4-BE49-F238E27FC236}">
                <a16:creationId xmlns:a16="http://schemas.microsoft.com/office/drawing/2014/main" id="{AFA4D58B-43EC-06B2-CBE9-1882268FFA7C}"/>
              </a:ext>
            </a:extLst>
          </p:cNvPr>
          <p:cNvSpPr/>
          <p:nvPr/>
        </p:nvSpPr>
        <p:spPr>
          <a:xfrm>
            <a:off x="4488707" y="5487165"/>
            <a:ext cx="3012306" cy="3163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+mj-lt"/>
              </a:rPr>
              <a:t>Notifications et alertes  </a:t>
            </a:r>
          </a:p>
        </p:txBody>
      </p:sp>
      <p:sp>
        <p:nvSpPr>
          <p:cNvPr id="31" name="TextBox 4079">
            <a:extLst>
              <a:ext uri="{FF2B5EF4-FFF2-40B4-BE49-F238E27FC236}">
                <a16:creationId xmlns:a16="http://schemas.microsoft.com/office/drawing/2014/main" id="{B4D52C39-0C03-877A-1546-758CF922EE45}"/>
              </a:ext>
            </a:extLst>
          </p:cNvPr>
          <p:cNvSpPr txBox="1"/>
          <p:nvPr/>
        </p:nvSpPr>
        <p:spPr>
          <a:xfrm>
            <a:off x="4499886" y="5803552"/>
            <a:ext cx="31420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 defTabSz="457189">
              <a:buFont typeface="Arial" panose="020B0604020202020204" pitchFamily="34" charset="0"/>
              <a:buChar char="•"/>
              <a:defRPr/>
            </a:pPr>
            <a:r>
              <a:rPr lang="fr-FR" sz="12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Notifications automatiques d’affectation in-</a:t>
            </a:r>
            <a:r>
              <a:rPr lang="fr-FR" sz="1200" dirty="0" err="1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app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et par email </a:t>
            </a:r>
          </a:p>
          <a:p>
            <a:pPr marL="171446" indent="-171446" defTabSz="457189">
              <a:buFont typeface="Arial" panose="020B0604020202020204" pitchFamily="34" charset="0"/>
              <a:buChar char="•"/>
              <a:defRPr/>
            </a:pPr>
            <a:r>
              <a:rPr lang="fr-FR" sz="12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Relances automatiques en cas de non-réponse ou retard in-</a:t>
            </a:r>
            <a:r>
              <a:rPr lang="fr-FR" sz="1200" dirty="0" err="1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app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et par email </a:t>
            </a:r>
          </a:p>
        </p:txBody>
      </p:sp>
      <p:sp>
        <p:nvSpPr>
          <p:cNvPr id="32" name="Rectangle : coins arrondis 275">
            <a:extLst>
              <a:ext uri="{FF2B5EF4-FFF2-40B4-BE49-F238E27FC236}">
                <a16:creationId xmlns:a16="http://schemas.microsoft.com/office/drawing/2014/main" id="{BAC978AC-EFBD-E3A9-20E8-85E409D0479B}"/>
              </a:ext>
            </a:extLst>
          </p:cNvPr>
          <p:cNvSpPr/>
          <p:nvPr/>
        </p:nvSpPr>
        <p:spPr>
          <a:xfrm>
            <a:off x="8676640" y="4955248"/>
            <a:ext cx="2787050" cy="31699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+mj-lt"/>
              </a:rPr>
              <a:t>Intégration SI </a:t>
            </a:r>
          </a:p>
        </p:txBody>
      </p:sp>
      <p:sp>
        <p:nvSpPr>
          <p:cNvPr id="33" name="Rectangle : coins arrondis 275">
            <a:extLst>
              <a:ext uri="{FF2B5EF4-FFF2-40B4-BE49-F238E27FC236}">
                <a16:creationId xmlns:a16="http://schemas.microsoft.com/office/drawing/2014/main" id="{BAC978AC-EFBD-E3A9-20E8-85E409D0479B}"/>
              </a:ext>
            </a:extLst>
          </p:cNvPr>
          <p:cNvSpPr/>
          <p:nvPr/>
        </p:nvSpPr>
        <p:spPr>
          <a:xfrm>
            <a:off x="8676640" y="5551537"/>
            <a:ext cx="2782696" cy="361483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+mj-lt"/>
              </a:rPr>
              <a:t>Sécurité et confidentialité </a:t>
            </a:r>
          </a:p>
        </p:txBody>
      </p:sp>
      <p:sp>
        <p:nvSpPr>
          <p:cNvPr id="34" name="Rectangle : coins arrondis 275">
            <a:extLst>
              <a:ext uri="{FF2B5EF4-FFF2-40B4-BE49-F238E27FC236}">
                <a16:creationId xmlns:a16="http://schemas.microsoft.com/office/drawing/2014/main" id="{A816ED47-98E9-6E7F-6A0F-FA82F75EDC82}"/>
              </a:ext>
            </a:extLst>
          </p:cNvPr>
          <p:cNvSpPr/>
          <p:nvPr/>
        </p:nvSpPr>
        <p:spPr>
          <a:xfrm>
            <a:off x="99555" y="6303615"/>
            <a:ext cx="626960" cy="34795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+mj-lt"/>
              </a:rPr>
              <a:t>MVP</a:t>
            </a:r>
          </a:p>
        </p:txBody>
      </p:sp>
      <p:sp>
        <p:nvSpPr>
          <p:cNvPr id="36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8937" y="793848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MODULES</a:t>
            </a:r>
          </a:p>
        </p:txBody>
      </p:sp>
      <p:sp>
        <p:nvSpPr>
          <p:cNvPr id="37" name="Rectangle : coins arrondis 275">
            <a:extLst>
              <a:ext uri="{FF2B5EF4-FFF2-40B4-BE49-F238E27FC236}">
                <a16:creationId xmlns:a16="http://schemas.microsoft.com/office/drawing/2014/main" id="{0FB95ACC-AE2C-499B-425C-97EFFA0D7565}"/>
              </a:ext>
            </a:extLst>
          </p:cNvPr>
          <p:cNvSpPr/>
          <p:nvPr/>
        </p:nvSpPr>
        <p:spPr>
          <a:xfrm>
            <a:off x="796952" y="6303615"/>
            <a:ext cx="632147" cy="34795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+mj-lt"/>
              </a:rPr>
              <a:t>Cible</a:t>
            </a:r>
            <a:endParaRPr lang="fr-FR" sz="1400" dirty="0">
              <a:latin typeface="+mj-lt"/>
            </a:endParaRPr>
          </a:p>
        </p:txBody>
      </p:sp>
      <p:sp>
        <p:nvSpPr>
          <p:cNvPr id="38" name="Rectangle : coins arrondis 275">
            <a:extLst>
              <a:ext uri="{FF2B5EF4-FFF2-40B4-BE49-F238E27FC236}">
                <a16:creationId xmlns:a16="http://schemas.microsoft.com/office/drawing/2014/main" id="{AD24B9A5-61F9-D74D-2DC2-6A5317F5683C}"/>
              </a:ext>
            </a:extLst>
          </p:cNvPr>
          <p:cNvSpPr/>
          <p:nvPr/>
        </p:nvSpPr>
        <p:spPr>
          <a:xfrm>
            <a:off x="4488707" y="3474135"/>
            <a:ext cx="3012306" cy="34589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+mj-lt"/>
              </a:rPr>
              <a:t>Gestion des Evaluations</a:t>
            </a:r>
          </a:p>
        </p:txBody>
      </p:sp>
      <p:sp>
        <p:nvSpPr>
          <p:cNvPr id="40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4489909" y="3839800"/>
            <a:ext cx="32426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 defTabSz="457189">
              <a:buFont typeface="Arial" panose="020B0604020202020204" pitchFamily="34" charset="0"/>
              <a:buChar char="•"/>
              <a:defRPr/>
            </a:pPr>
            <a:r>
              <a:rPr lang="fr-FR" sz="12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Créer et gérer des modèles de formulaires d’évaluation (multi-typologies: auto-évaluation, </a:t>
            </a:r>
            <a:r>
              <a:rPr lang="fr-FR" sz="1200" dirty="0" err="1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etc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)</a:t>
            </a:r>
          </a:p>
          <a:p>
            <a:pPr marL="171446" indent="-171446" defTabSz="457189">
              <a:buFont typeface="Arial" panose="020B0604020202020204" pitchFamily="34" charset="0"/>
              <a:buChar char="•"/>
              <a:defRPr/>
            </a:pPr>
            <a:r>
              <a:rPr lang="fr-FR" sz="12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Personnaliser les formulaires d’évaluation selon les profils, produits, entités ou autres </a:t>
            </a:r>
          </a:p>
          <a:p>
            <a:pPr marL="171446" indent="-171446" defTabSz="457189">
              <a:buFont typeface="Arial" panose="020B0604020202020204" pitchFamily="34" charset="0"/>
              <a:buChar char="•"/>
              <a:defRPr/>
            </a:pPr>
            <a:r>
              <a:rPr lang="fr-FR" sz="12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Planifier et diffusion des campagnes d’évaluations</a:t>
            </a:r>
          </a:p>
          <a:p>
            <a:pPr marL="171446" indent="-171446" defTabSz="457189">
              <a:buFont typeface="Arial" panose="020B0604020202020204" pitchFamily="34" charset="0"/>
              <a:buChar char="•"/>
              <a:defRPr/>
            </a:pPr>
            <a:r>
              <a:rPr lang="fr-FR" sz="12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Suivre l’état d’avancement </a:t>
            </a:r>
          </a:p>
        </p:txBody>
      </p:sp>
    </p:spTree>
    <p:extLst>
      <p:ext uri="{BB962C8B-B14F-4D97-AF65-F5344CB8AC3E}">
        <p14:creationId xmlns:p14="http://schemas.microsoft.com/office/powerpoint/2010/main" val="4166530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1239" y="20016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fr-FR" sz="1600" b="1" kern="0" cap="all" dirty="0">
                <a:solidFill>
                  <a:srgbClr val="003366"/>
                </a:solidFill>
                <a:latin typeface="Arial"/>
                <a:ea typeface="+mn-ea"/>
                <a:cs typeface="+mn-cs"/>
              </a:rPr>
              <a:t>MVP: OBSERVATIONS des pratiques commerciales et managériales</a:t>
            </a:r>
          </a:p>
          <a:p>
            <a:pPr algn="just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FONCTIONNALITES</a:t>
            </a:r>
          </a:p>
          <a:p>
            <a:pPr algn="just">
              <a:defRPr/>
            </a:pPr>
            <a:r>
              <a:rPr lang="fr-FR" sz="1600" b="1" kern="0" cap="all" dirty="0">
                <a:solidFill>
                  <a:srgbClr val="003366"/>
                </a:solidFill>
                <a:latin typeface="Arial"/>
                <a:ea typeface="+mn-ea"/>
                <a:cs typeface="+mn-cs"/>
              </a:rPr>
              <a:t>  </a:t>
            </a:r>
          </a:p>
          <a:p>
            <a:pPr algn="just">
              <a:defRPr/>
            </a:pPr>
            <a:endParaRPr lang="fr-FR" sz="1600" b="1" kern="0" cap="all" dirty="0">
              <a:solidFill>
                <a:srgbClr val="003366"/>
              </a:solidFill>
              <a:latin typeface="Arial"/>
              <a:ea typeface="+mn-ea"/>
              <a:cs typeface="+mn-cs"/>
            </a:endParaRPr>
          </a:p>
          <a:p>
            <a:pPr algn="just">
              <a:defRPr/>
            </a:pPr>
            <a:endParaRPr lang="fr-FR" sz="1600" b="1" kern="0" cap="all" dirty="0">
              <a:solidFill>
                <a:srgbClr val="003366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227" y="7268"/>
            <a:ext cx="2688772" cy="644995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4FD5FF3-7176-468A-18C9-5D52A496CD01}"/>
              </a:ext>
            </a:extLst>
          </p:cNvPr>
          <p:cNvCxnSpPr>
            <a:cxnSpLocks/>
          </p:cNvCxnSpPr>
          <p:nvPr/>
        </p:nvCxnSpPr>
        <p:spPr bwMode="auto">
          <a:xfrm>
            <a:off x="346636" y="711245"/>
            <a:ext cx="11496280" cy="0"/>
          </a:xfrm>
          <a:prstGeom prst="line">
            <a:avLst/>
          </a:prstGeom>
          <a:solidFill>
            <a:srgbClr val="EAEAEA"/>
          </a:solidFill>
          <a:ln w="1905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1238" y="926019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ADMINISTRATION </a:t>
            </a:r>
          </a:p>
        </p:txBody>
      </p:sp>
      <p:graphicFrame>
        <p:nvGraphicFramePr>
          <p:cNvPr id="39" name="Tableau 38"/>
          <p:cNvGraphicFramePr>
            <a:graphicFrameLocks noGrp="1"/>
          </p:cNvGraphicFramePr>
          <p:nvPr/>
        </p:nvGraphicFramePr>
        <p:xfrm>
          <a:off x="370886" y="1256477"/>
          <a:ext cx="4692181" cy="87249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692181">
                  <a:extLst>
                    <a:ext uri="{9D8B030D-6E8A-4147-A177-3AD203B41FA5}">
                      <a16:colId xmlns:a16="http://schemas.microsoft.com/office/drawing/2014/main" val="2636975847"/>
                    </a:ext>
                  </a:extLst>
                </a:gridCol>
              </a:tblGrid>
              <a:tr h="126559">
                <a:tc>
                  <a:txBody>
                    <a:bodyPr/>
                    <a:lstStyle/>
                    <a:p>
                      <a:pPr marL="171450" indent="-171450" algn="l" defTabSz="457238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Création des formulaires des observations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9103930"/>
                  </a:ext>
                </a:extLst>
              </a:tr>
              <a:tr h="126559"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fr-FR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/>
                        </a:rPr>
                        <a:t>Mise à jour/</a:t>
                      </a:r>
                      <a:r>
                        <a:rPr lang="fr-FR" sz="1400" b="0" i="0" u="none" strike="noStrike" baseline="0" dirty="0">
                          <a:solidFill>
                            <a:schemeClr val="tx2"/>
                          </a:solidFill>
                          <a:effectLst/>
                          <a:latin typeface="Aptos Narrow"/>
                        </a:rPr>
                        <a:t> Paramétrage </a:t>
                      </a:r>
                      <a:r>
                        <a:rPr lang="fr-FR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/>
                        </a:rPr>
                        <a:t>des formulaires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02942278"/>
                  </a:ext>
                </a:extLst>
              </a:tr>
              <a:tr h="249460">
                <a:tc>
                  <a:txBody>
                    <a:bodyPr/>
                    <a:lstStyle/>
                    <a:p>
                      <a:pPr marL="171450" marR="0" lvl="0" indent="-171450" algn="l" defTabSz="45723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/>
                        </a:rPr>
                        <a:t>Affectation des formulaires aux profils adéquats</a:t>
                      </a:r>
                      <a:r>
                        <a:rPr lang="fr-FR" sz="1400" b="0" i="0" u="none" strike="noStrike" baseline="0" dirty="0">
                          <a:solidFill>
                            <a:schemeClr val="tx2"/>
                          </a:solidFill>
                          <a:effectLst/>
                          <a:latin typeface="Aptos Narrow"/>
                        </a:rPr>
                        <a:t> </a:t>
                      </a:r>
                      <a:endParaRPr lang="fr-FR" sz="14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endParaRPr lang="fr-FR" sz="14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93479537"/>
                  </a:ext>
                </a:extLst>
              </a:tr>
            </a:tbl>
          </a:graphicData>
        </a:graphic>
      </p:graphicFrame>
      <p:sp>
        <p:nvSpPr>
          <p:cNvPr id="10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6500509" y="967441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AUTHENTIFICATION</a:t>
            </a:r>
          </a:p>
        </p:txBody>
      </p:sp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597733"/>
              </p:ext>
            </p:extLst>
          </p:nvPr>
        </p:nvGraphicFramePr>
        <p:xfrm>
          <a:off x="6532457" y="1274738"/>
          <a:ext cx="5723890" cy="1412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23890">
                  <a:extLst>
                    <a:ext uri="{9D8B030D-6E8A-4147-A177-3AD203B41FA5}">
                      <a16:colId xmlns:a16="http://schemas.microsoft.com/office/drawing/2014/main" val="2636975847"/>
                    </a:ext>
                  </a:extLst>
                </a:gridCol>
              </a:tblGrid>
              <a:tr h="216723">
                <a:tc>
                  <a:txBody>
                    <a:bodyPr/>
                    <a:lstStyle/>
                    <a:p>
                      <a:pPr marL="171450" indent="-171450" algn="l" defTabSz="457238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1400" b="0" i="0" u="none" strike="noStrike" kern="1200" baseline="0" dirty="0">
                          <a:solidFill>
                            <a:schemeClr val="tx2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Gestion de l’authentification </a:t>
                      </a:r>
                      <a:endParaRPr lang="fr-FR" sz="1400" b="0" i="0" u="none" strike="noStrike" kern="1200" dirty="0">
                        <a:solidFill>
                          <a:schemeClr val="tx2"/>
                        </a:solidFill>
                        <a:effectLst/>
                        <a:latin typeface="Aptos Narrow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9103930"/>
                  </a:ext>
                </a:extLst>
              </a:tr>
              <a:tr h="169333"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endParaRPr lang="fr-FR" sz="14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0294227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endParaRPr lang="fr-FR" sz="14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9347953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87645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854481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0654698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1621634"/>
                  </a:ext>
                </a:extLst>
              </a:tr>
            </a:tbl>
          </a:graphicData>
        </a:graphic>
      </p:graphicFrame>
      <p:sp>
        <p:nvSpPr>
          <p:cNvPr id="14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1237" y="2182048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CONSULTATION DU PROFIL</a:t>
            </a:r>
          </a:p>
        </p:txBody>
      </p:sp>
      <p:graphicFrame>
        <p:nvGraphicFramePr>
          <p:cNvPr id="15" name="Tableau 14"/>
          <p:cNvGraphicFramePr>
            <a:graphicFrameLocks noGrp="1"/>
          </p:cNvGraphicFramePr>
          <p:nvPr/>
        </p:nvGraphicFramePr>
        <p:xfrm>
          <a:off x="370886" y="2492471"/>
          <a:ext cx="4758724" cy="18275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58724">
                  <a:extLst>
                    <a:ext uri="{9D8B030D-6E8A-4147-A177-3AD203B41FA5}">
                      <a16:colId xmlns:a16="http://schemas.microsoft.com/office/drawing/2014/main" val="2636975847"/>
                    </a:ext>
                  </a:extLst>
                </a:gridCol>
              </a:tblGrid>
              <a:tr h="538610">
                <a:tc>
                  <a:txBody>
                    <a:bodyPr/>
                    <a:lstStyle/>
                    <a:p>
                      <a:pPr marL="171450" indent="-171450" algn="l" defTabSz="457238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Consultation</a:t>
                      </a:r>
                      <a:r>
                        <a:rPr lang="fr-FR" sz="1400" b="0" i="0" u="none" strike="noStrike" kern="1200" baseline="0" dirty="0">
                          <a:solidFill>
                            <a:schemeClr val="tx2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de l’identifiant, email, rattachement, marché, responsable, </a:t>
                      </a:r>
                      <a:r>
                        <a:rPr lang="fr-FR" sz="1400" b="0" i="0" u="none" strike="noStrike" kern="1200" baseline="0" dirty="0" err="1">
                          <a:solidFill>
                            <a:schemeClr val="tx2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etc</a:t>
                      </a:r>
                      <a:endParaRPr lang="fr-FR" sz="1400" b="0" i="0" u="none" strike="noStrike" kern="1200" baseline="0" dirty="0">
                        <a:solidFill>
                          <a:schemeClr val="tx2"/>
                        </a:solidFill>
                        <a:effectLst/>
                        <a:latin typeface="Aptos Narrow"/>
                        <a:ea typeface="+mn-ea"/>
                        <a:cs typeface="+mn-cs"/>
                      </a:endParaRPr>
                    </a:p>
                    <a:p>
                      <a:pPr marL="0" indent="0" algn="l" defTabSz="457238" rtl="0" eaLnBrk="1" fontAlgn="b" latinLnBrk="0" hangingPunct="1">
                        <a:buFont typeface="Arial" panose="020B0604020202020204" pitchFamily="34" charset="0"/>
                        <a:buNone/>
                      </a:pPr>
                      <a:endParaRPr lang="fr-FR" sz="1400" b="0" i="0" u="none" strike="noStrike" kern="1200" dirty="0">
                        <a:solidFill>
                          <a:schemeClr val="tx2"/>
                        </a:solidFill>
                        <a:effectLst/>
                        <a:latin typeface="Aptos Narrow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9103930"/>
                  </a:ext>
                </a:extLst>
              </a:tr>
              <a:tr h="183064"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endParaRPr lang="fr-FR" sz="14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02942278"/>
                  </a:ext>
                </a:extLst>
              </a:tr>
              <a:tr h="183064"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endParaRPr lang="fr-FR" sz="14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93479537"/>
                  </a:ext>
                </a:extLst>
              </a:tr>
              <a:tr h="183064"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8764585"/>
                  </a:ext>
                </a:extLst>
              </a:tr>
              <a:tr h="144970"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8544815"/>
                  </a:ext>
                </a:extLst>
              </a:tr>
              <a:tr h="144970"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06546987"/>
                  </a:ext>
                </a:extLst>
              </a:tr>
              <a:tr h="144970"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1621634"/>
                  </a:ext>
                </a:extLst>
              </a:tr>
            </a:tbl>
          </a:graphicData>
        </a:graphic>
      </p:graphicFrame>
      <p:sp>
        <p:nvSpPr>
          <p:cNvPr id="16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6500509" y="2128967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SAISIE DES OBSERVATIONS</a:t>
            </a:r>
          </a:p>
        </p:txBody>
      </p:sp>
      <p:graphicFrame>
        <p:nvGraphicFramePr>
          <p:cNvPr id="17" name="Tableau 16"/>
          <p:cNvGraphicFramePr>
            <a:graphicFrameLocks noGrp="1"/>
          </p:cNvGraphicFramePr>
          <p:nvPr/>
        </p:nvGraphicFramePr>
        <p:xfrm>
          <a:off x="6500509" y="2527211"/>
          <a:ext cx="4846525" cy="43307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46525">
                  <a:extLst>
                    <a:ext uri="{9D8B030D-6E8A-4147-A177-3AD203B41FA5}">
                      <a16:colId xmlns:a16="http://schemas.microsoft.com/office/drawing/2014/main" val="2636975847"/>
                    </a:ext>
                  </a:extLst>
                </a:gridCol>
              </a:tblGrid>
              <a:tr h="216723">
                <a:tc>
                  <a:txBody>
                    <a:bodyPr/>
                    <a:lstStyle/>
                    <a:p>
                      <a:pPr marL="171450" indent="-171450" algn="l" defTabSz="457238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Saisie d’une</a:t>
                      </a:r>
                      <a:r>
                        <a:rPr lang="fr-FR" sz="1400" b="0" i="0" u="none" strike="noStrike" kern="1200" baseline="0" dirty="0">
                          <a:solidFill>
                            <a:schemeClr val="tx2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observation à partir d’un modèle existant </a:t>
                      </a:r>
                    </a:p>
                    <a:p>
                      <a:pPr marL="0" indent="0" algn="l" defTabSz="457238" rtl="0" eaLnBrk="1" fontAlgn="b" latinLnBrk="0" hangingPunct="1">
                        <a:buFont typeface="Arial" panose="020B0604020202020204" pitchFamily="34" charset="0"/>
                        <a:buNone/>
                      </a:pPr>
                      <a:endParaRPr lang="fr-FR" sz="1400" b="0" i="0" u="none" strike="noStrike" kern="1200" dirty="0">
                        <a:solidFill>
                          <a:schemeClr val="tx2"/>
                        </a:solidFill>
                        <a:effectLst/>
                        <a:latin typeface="Aptos Narrow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9103930"/>
                  </a:ext>
                </a:extLst>
              </a:tr>
            </a:tbl>
          </a:graphicData>
        </a:graphic>
      </p:graphicFrame>
      <p:sp>
        <p:nvSpPr>
          <p:cNvPr id="18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1237" y="3204117"/>
            <a:ext cx="5850168" cy="289106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CONSULTATION DE L’HISTORIQUE DES OBSERVATIONS </a:t>
            </a:r>
          </a:p>
        </p:txBody>
      </p:sp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370886" y="3516398"/>
          <a:ext cx="5723890" cy="43307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23890">
                  <a:extLst>
                    <a:ext uri="{9D8B030D-6E8A-4147-A177-3AD203B41FA5}">
                      <a16:colId xmlns:a16="http://schemas.microsoft.com/office/drawing/2014/main" val="2636975847"/>
                    </a:ext>
                  </a:extLst>
                </a:gridCol>
              </a:tblGrid>
              <a:tr h="216723">
                <a:tc>
                  <a:txBody>
                    <a:bodyPr/>
                    <a:lstStyle/>
                    <a:p>
                      <a:pPr marL="171450" indent="-171450" algn="l" defTabSz="457238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Consultation</a:t>
                      </a:r>
                      <a:r>
                        <a:rPr lang="fr-FR" sz="1400" b="0" i="0" u="none" strike="noStrike" kern="1200" baseline="0" dirty="0">
                          <a:solidFill>
                            <a:schemeClr val="tx2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de l’historique des observations par des différents profils utilisateurs selon les règles de gestion à définir </a:t>
                      </a:r>
                      <a:endParaRPr lang="fr-FR" sz="1400" b="0" i="0" u="none" strike="noStrike" kern="1200" dirty="0">
                        <a:solidFill>
                          <a:schemeClr val="tx2"/>
                        </a:solidFill>
                        <a:effectLst/>
                        <a:latin typeface="Aptos Narrow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9103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019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227" y="7268"/>
            <a:ext cx="2688772" cy="64499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9D190FF-C44B-F3F6-2867-ECE03B5F516C}"/>
              </a:ext>
            </a:extLst>
          </p:cNvPr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04FD5FF3-7176-468A-18C9-5D52A496CD01}"/>
              </a:ext>
            </a:extLst>
          </p:cNvPr>
          <p:cNvCxnSpPr>
            <a:cxnSpLocks/>
          </p:cNvCxnSpPr>
          <p:nvPr/>
        </p:nvCxnSpPr>
        <p:spPr bwMode="auto">
          <a:xfrm>
            <a:off x="346636" y="711245"/>
            <a:ext cx="11496280" cy="0"/>
          </a:xfrm>
          <a:prstGeom prst="line">
            <a:avLst/>
          </a:prstGeom>
          <a:solidFill>
            <a:srgbClr val="EAEAEA"/>
          </a:solidFill>
          <a:ln w="1905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Rectangle 1"/>
          <p:cNvSpPr/>
          <p:nvPr/>
        </p:nvSpPr>
        <p:spPr>
          <a:xfrm>
            <a:off x="9174480" y="955040"/>
            <a:ext cx="1584960" cy="27330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kern="0" cap="all" dirty="0">
                <a:solidFill>
                  <a:schemeClr val="bg1"/>
                </a:solidFill>
                <a:latin typeface="Arial"/>
              </a:rPr>
              <a:t>BOA </a:t>
            </a:r>
          </a:p>
          <a:p>
            <a:pPr algn="ctr"/>
            <a:r>
              <a:rPr lang="fr-FR" sz="1600" b="1" kern="0" cap="all" dirty="0">
                <a:solidFill>
                  <a:schemeClr val="bg1"/>
                </a:solidFill>
                <a:latin typeface="Arial"/>
              </a:rPr>
              <a:t>FOLLOWP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7600" y="955040"/>
            <a:ext cx="1889760" cy="273304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b="1" kern="0" cap="all" dirty="0">
                <a:solidFill>
                  <a:schemeClr val="bg1"/>
                </a:solidFill>
                <a:latin typeface="Arial"/>
              </a:rPr>
              <a:t>UTILISATEUR HABILITE </a:t>
            </a:r>
          </a:p>
        </p:txBody>
      </p:sp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697295"/>
              </p:ext>
            </p:extLst>
          </p:nvPr>
        </p:nvGraphicFramePr>
        <p:xfrm>
          <a:off x="1117601" y="4120141"/>
          <a:ext cx="9641840" cy="1833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3661">
                  <a:extLst>
                    <a:ext uri="{9D8B030D-6E8A-4147-A177-3AD203B41FA5}">
                      <a16:colId xmlns:a16="http://schemas.microsoft.com/office/drawing/2014/main" val="4280695171"/>
                    </a:ext>
                  </a:extLst>
                </a:gridCol>
                <a:gridCol w="8798179">
                  <a:extLst>
                    <a:ext uri="{9D8B030D-6E8A-4147-A177-3AD203B41FA5}">
                      <a16:colId xmlns:a16="http://schemas.microsoft.com/office/drawing/2014/main" val="781910127"/>
                    </a:ext>
                  </a:extLst>
                </a:gridCol>
              </a:tblGrid>
              <a:tr h="247673"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S'authentifier </a:t>
                      </a:r>
                    </a:p>
                  </a:txBody>
                  <a:tcPr marL="4466" marR="4466" marT="4466" marB="0" anchor="b"/>
                </a:tc>
                <a:extLst>
                  <a:ext uri="{0D108BD9-81ED-4DB2-BD59-A6C34878D82A}">
                    <a16:rowId xmlns:a16="http://schemas.microsoft.com/office/drawing/2014/main" val="2037479746"/>
                  </a:ext>
                </a:extLst>
              </a:tr>
              <a:tr h="194467"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Consulter le profil de l’utilisateur connecté (rattachement</a:t>
                      </a:r>
                      <a:r>
                        <a:rPr lang="fr-FR" sz="1600" kern="1200" baseline="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) </a:t>
                      </a:r>
                      <a:endParaRPr lang="fr-FR" sz="1600" kern="1200" dirty="0">
                        <a:solidFill>
                          <a:schemeClr val="tx2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66" marR="4466" marT="4466" marB="0" anchor="b"/>
                </a:tc>
                <a:extLst>
                  <a:ext uri="{0D108BD9-81ED-4DB2-BD59-A6C34878D82A}">
                    <a16:rowId xmlns:a16="http://schemas.microsoft.com/office/drawing/2014/main" val="3916670322"/>
                  </a:ext>
                </a:extLst>
              </a:tr>
              <a:tr h="247138"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Consulter les modèles d'observations affectés à l’utilisateur connecté et habilité à saisir des observations</a:t>
                      </a:r>
                    </a:p>
                  </a:txBody>
                  <a:tcPr marL="4466" marR="4466" marT="4466" marB="0" anchor="b"/>
                </a:tc>
                <a:extLst>
                  <a:ext uri="{0D108BD9-81ED-4DB2-BD59-A6C34878D82A}">
                    <a16:rowId xmlns:a16="http://schemas.microsoft.com/office/drawing/2014/main" val="2486156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Saisir une nouvelle observation à partir des modèles existants</a:t>
                      </a:r>
                    </a:p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Soumettre ou annuler une observation en cours de saisie </a:t>
                      </a:r>
                    </a:p>
                  </a:txBody>
                  <a:tcPr marL="4466" marR="4466" marT="4466" marB="0" anchor="b"/>
                </a:tc>
                <a:extLst>
                  <a:ext uri="{0D108BD9-81ED-4DB2-BD59-A6C34878D82A}">
                    <a16:rowId xmlns:a16="http://schemas.microsoft.com/office/drawing/2014/main" val="3918324942"/>
                  </a:ext>
                </a:extLst>
              </a:tr>
              <a:tr h="254436"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Consulter l'historique des observations saisies par le profil connecté </a:t>
                      </a:r>
                    </a:p>
                  </a:txBody>
                  <a:tcPr marL="4466" marR="4466" marT="4466" marB="0" anchor="b"/>
                </a:tc>
                <a:extLst>
                  <a:ext uri="{0D108BD9-81ED-4DB2-BD59-A6C34878D82A}">
                    <a16:rowId xmlns:a16="http://schemas.microsoft.com/office/drawing/2014/main" val="3394545308"/>
                  </a:ext>
                </a:extLst>
              </a:tr>
            </a:tbl>
          </a:graphicData>
        </a:graphic>
      </p:graphicFrame>
      <p:pic>
        <p:nvPicPr>
          <p:cNvPr id="12" name="Espace réservé pour une image  7" descr="Utilisateur avec un remplissage uni">
            <a:extLst>
              <a:ext uri="{FF2B5EF4-FFF2-40B4-BE49-F238E27FC236}">
                <a16:creationId xmlns:a16="http://schemas.microsoft.com/office/drawing/2014/main" id="{5154DE9D-AD60-B3FF-7FD3-1209EDB67AF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35" b="35"/>
          <a:stretch>
            <a:fillRect/>
          </a:stretch>
        </p:blipFill>
        <p:spPr>
          <a:xfrm>
            <a:off x="1696528" y="2767846"/>
            <a:ext cx="731903" cy="731308"/>
          </a:xfrm>
          <a:prstGeom prst="rect">
            <a:avLst/>
          </a:prstGeom>
          <a:ln>
            <a:noFill/>
          </a:ln>
        </p:spPr>
      </p:pic>
      <p:pic>
        <p:nvPicPr>
          <p:cNvPr id="15" name="Graphique 13" descr="Smartphone avec un remplissage uni">
            <a:extLst>
              <a:ext uri="{FF2B5EF4-FFF2-40B4-BE49-F238E27FC236}">
                <a16:creationId xmlns:a16="http://schemas.microsoft.com/office/drawing/2014/main" id="{30D7DC37-9362-27DF-D06F-F683EDB182AA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06346" y="3007847"/>
            <a:ext cx="491307" cy="491307"/>
          </a:xfrm>
          <a:prstGeom prst="rect">
            <a:avLst/>
          </a:prstGeom>
        </p:spPr>
      </p:pic>
      <p:pic>
        <p:nvPicPr>
          <p:cNvPr id="16" name="Graphique 15" descr="Ordinateur portable avec un remplissage uni">
            <a:extLst>
              <a:ext uri="{FF2B5EF4-FFF2-40B4-BE49-F238E27FC236}">
                <a16:creationId xmlns:a16="http://schemas.microsoft.com/office/drawing/2014/main" id="{57798A7A-4FF9-74C8-106D-E13537434D8A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0747" y="2924598"/>
            <a:ext cx="665340" cy="665340"/>
          </a:xfrm>
          <a:prstGeom prst="rect">
            <a:avLst/>
          </a:prstGeom>
        </p:spPr>
      </p:pic>
      <p:cxnSp>
        <p:nvCxnSpPr>
          <p:cNvPr id="4" name="Connecteur droit avec flèche 3"/>
          <p:cNvCxnSpPr/>
          <p:nvPr/>
        </p:nvCxnSpPr>
        <p:spPr>
          <a:xfrm>
            <a:off x="3289300" y="2092960"/>
            <a:ext cx="5403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H="1" flipV="1">
            <a:off x="3323167" y="2361576"/>
            <a:ext cx="5325534" cy="11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38F27D96-10A4-4D16-97BA-90469E714FC2}"/>
              </a:ext>
            </a:extLst>
          </p:cNvPr>
          <p:cNvSpPr txBox="1">
            <a:spLocks/>
          </p:cNvSpPr>
          <p:nvPr/>
        </p:nvSpPr>
        <p:spPr>
          <a:xfrm>
            <a:off x="331239" y="20016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fr-FR" sz="1600" b="1" kern="0" cap="all" dirty="0">
                <a:solidFill>
                  <a:srgbClr val="003366"/>
                </a:solidFill>
                <a:latin typeface="Arial"/>
                <a:ea typeface="+mn-ea"/>
                <a:cs typeface="+mn-cs"/>
              </a:rPr>
              <a:t>MVP : OBSERVATIONS des pratiques commerciales et managériales  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CEF2E06-9499-A40F-8419-AC4E79DA445D}"/>
              </a:ext>
            </a:extLst>
          </p:cNvPr>
          <p:cNvSpPr txBox="1">
            <a:spLocks/>
          </p:cNvSpPr>
          <p:nvPr/>
        </p:nvSpPr>
        <p:spPr>
          <a:xfrm>
            <a:off x="330038" y="43994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Parcours utilisateur</a:t>
            </a:r>
          </a:p>
        </p:txBody>
      </p:sp>
    </p:spTree>
    <p:extLst>
      <p:ext uri="{BB962C8B-B14F-4D97-AF65-F5344CB8AC3E}">
        <p14:creationId xmlns:p14="http://schemas.microsoft.com/office/powerpoint/2010/main" val="259206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227" y="7268"/>
            <a:ext cx="2688772" cy="64499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9D190FF-C44B-F3F6-2867-ECE03B5F516C}"/>
              </a:ext>
            </a:extLst>
          </p:cNvPr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04FD5FF3-7176-468A-18C9-5D52A496CD01}"/>
              </a:ext>
            </a:extLst>
          </p:cNvPr>
          <p:cNvCxnSpPr>
            <a:cxnSpLocks/>
          </p:cNvCxnSpPr>
          <p:nvPr/>
        </p:nvCxnSpPr>
        <p:spPr bwMode="auto">
          <a:xfrm>
            <a:off x="346636" y="711245"/>
            <a:ext cx="11496280" cy="0"/>
          </a:xfrm>
          <a:prstGeom prst="line">
            <a:avLst/>
          </a:prstGeom>
          <a:solidFill>
            <a:srgbClr val="EAEAEA"/>
          </a:solidFill>
          <a:ln w="1905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Rectangle 1"/>
          <p:cNvSpPr/>
          <p:nvPr/>
        </p:nvSpPr>
        <p:spPr>
          <a:xfrm>
            <a:off x="9174480" y="955040"/>
            <a:ext cx="1584960" cy="27330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kern="0" cap="all" dirty="0">
                <a:solidFill>
                  <a:schemeClr val="bg1"/>
                </a:solidFill>
                <a:latin typeface="Arial"/>
              </a:rPr>
              <a:t>BOA </a:t>
            </a:r>
          </a:p>
          <a:p>
            <a:pPr algn="ctr"/>
            <a:r>
              <a:rPr lang="fr-FR" sz="1600" b="1" kern="0" cap="all" dirty="0">
                <a:solidFill>
                  <a:schemeClr val="bg1"/>
                </a:solidFill>
                <a:latin typeface="Arial"/>
              </a:rPr>
              <a:t>FOLLOWP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7600" y="955040"/>
            <a:ext cx="1889760" cy="273304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b="1" kern="0" cap="all" dirty="0">
                <a:solidFill>
                  <a:schemeClr val="bg1"/>
                </a:solidFill>
                <a:latin typeface="Arial"/>
              </a:rPr>
              <a:t>ADMINISTRATEUR</a:t>
            </a:r>
          </a:p>
        </p:txBody>
      </p:sp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154340"/>
              </p:ext>
            </p:extLst>
          </p:nvPr>
        </p:nvGraphicFramePr>
        <p:xfrm>
          <a:off x="1117601" y="4120141"/>
          <a:ext cx="9641840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3661">
                  <a:extLst>
                    <a:ext uri="{9D8B030D-6E8A-4147-A177-3AD203B41FA5}">
                      <a16:colId xmlns:a16="http://schemas.microsoft.com/office/drawing/2014/main" val="4280695171"/>
                    </a:ext>
                  </a:extLst>
                </a:gridCol>
                <a:gridCol w="8798179">
                  <a:extLst>
                    <a:ext uri="{9D8B030D-6E8A-4147-A177-3AD203B41FA5}">
                      <a16:colId xmlns:a16="http://schemas.microsoft.com/office/drawing/2014/main" val="781910127"/>
                    </a:ext>
                  </a:extLst>
                </a:gridCol>
              </a:tblGrid>
              <a:tr h="247673"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S'authentifier </a:t>
                      </a:r>
                    </a:p>
                  </a:txBody>
                  <a:tcPr marL="4466" marR="4466" marT="4466" marB="0" anchor="b"/>
                </a:tc>
                <a:extLst>
                  <a:ext uri="{0D108BD9-81ED-4DB2-BD59-A6C34878D82A}">
                    <a16:rowId xmlns:a16="http://schemas.microsoft.com/office/drawing/2014/main" val="2037479746"/>
                  </a:ext>
                </a:extLst>
              </a:tr>
              <a:tr h="194467"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Créer des modèles</a:t>
                      </a:r>
                      <a:r>
                        <a:rPr lang="fr-FR" sz="1600" kern="1200" baseline="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 d’observations </a:t>
                      </a:r>
                      <a:endParaRPr lang="fr-FR" sz="1600" kern="1200" dirty="0">
                        <a:solidFill>
                          <a:schemeClr val="tx2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66" marR="4466" marT="4466" marB="0" anchor="b"/>
                </a:tc>
                <a:extLst>
                  <a:ext uri="{0D108BD9-81ED-4DB2-BD59-A6C34878D82A}">
                    <a16:rowId xmlns:a16="http://schemas.microsoft.com/office/drawing/2014/main" val="3916670322"/>
                  </a:ext>
                </a:extLst>
              </a:tr>
              <a:tr h="247138"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Affecter les modèles d’observations aux utilisateurs</a:t>
                      </a:r>
                      <a:r>
                        <a:rPr lang="fr-FR" sz="1600" kern="1200" baseline="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 habilités à saisir des observations </a:t>
                      </a:r>
                      <a:endParaRPr lang="fr-FR" sz="1600" kern="1200" dirty="0">
                        <a:solidFill>
                          <a:schemeClr val="tx2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66" marR="4466" marT="4466" marB="0" anchor="b"/>
                </a:tc>
                <a:extLst>
                  <a:ext uri="{0D108BD9-81ED-4DB2-BD59-A6C34878D82A}">
                    <a16:rowId xmlns:a16="http://schemas.microsoft.com/office/drawing/2014/main" val="2486156650"/>
                  </a:ext>
                </a:extLst>
              </a:tr>
              <a:tr h="279139"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Paramétrer les habilitations de saisie des observations par rôles </a:t>
                      </a:r>
                    </a:p>
                  </a:txBody>
                  <a:tcPr marL="4466" marR="4466" marT="4466" marB="0" anchor="b"/>
                </a:tc>
                <a:extLst>
                  <a:ext uri="{0D108BD9-81ED-4DB2-BD59-A6C34878D82A}">
                    <a16:rowId xmlns:a16="http://schemas.microsoft.com/office/drawing/2014/main" val="3918324942"/>
                  </a:ext>
                </a:extLst>
              </a:tr>
              <a:tr h="254436"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Paramétrer les règles de gestion de la consultation des résultats des observations</a:t>
                      </a:r>
                    </a:p>
                  </a:txBody>
                  <a:tcPr marL="4466" marR="4466" marT="4466" marB="0" anchor="b"/>
                </a:tc>
                <a:extLst>
                  <a:ext uri="{0D108BD9-81ED-4DB2-BD59-A6C34878D82A}">
                    <a16:rowId xmlns:a16="http://schemas.microsoft.com/office/drawing/2014/main" val="3394545308"/>
                  </a:ext>
                </a:extLst>
              </a:tr>
            </a:tbl>
          </a:graphicData>
        </a:graphic>
      </p:graphicFrame>
      <p:pic>
        <p:nvPicPr>
          <p:cNvPr id="12" name="Espace réservé pour une image  7" descr="Utilisateur avec un remplissage uni">
            <a:extLst>
              <a:ext uri="{FF2B5EF4-FFF2-40B4-BE49-F238E27FC236}">
                <a16:creationId xmlns:a16="http://schemas.microsoft.com/office/drawing/2014/main" id="{5154DE9D-AD60-B3FF-7FD3-1209EDB67AF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35" b="35"/>
          <a:stretch>
            <a:fillRect/>
          </a:stretch>
        </p:blipFill>
        <p:spPr>
          <a:xfrm>
            <a:off x="1696528" y="2767846"/>
            <a:ext cx="731903" cy="731308"/>
          </a:xfrm>
          <a:prstGeom prst="rect">
            <a:avLst/>
          </a:prstGeom>
          <a:ln>
            <a:noFill/>
          </a:ln>
        </p:spPr>
      </p:pic>
      <p:pic>
        <p:nvPicPr>
          <p:cNvPr id="15" name="Graphique 13" descr="Smartphone avec un remplissage uni">
            <a:extLst>
              <a:ext uri="{FF2B5EF4-FFF2-40B4-BE49-F238E27FC236}">
                <a16:creationId xmlns:a16="http://schemas.microsoft.com/office/drawing/2014/main" id="{30D7DC37-9362-27DF-D06F-F683EDB182AA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06346" y="3007847"/>
            <a:ext cx="491307" cy="491307"/>
          </a:xfrm>
          <a:prstGeom prst="rect">
            <a:avLst/>
          </a:prstGeom>
        </p:spPr>
      </p:pic>
      <p:pic>
        <p:nvPicPr>
          <p:cNvPr id="16" name="Graphique 15" descr="Ordinateur portable avec un remplissage uni">
            <a:extLst>
              <a:ext uri="{FF2B5EF4-FFF2-40B4-BE49-F238E27FC236}">
                <a16:creationId xmlns:a16="http://schemas.microsoft.com/office/drawing/2014/main" id="{57798A7A-4FF9-74C8-106D-E13537434D8A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0747" y="2924598"/>
            <a:ext cx="665340" cy="665340"/>
          </a:xfrm>
          <a:prstGeom prst="rect">
            <a:avLst/>
          </a:prstGeom>
        </p:spPr>
      </p:pic>
      <p:cxnSp>
        <p:nvCxnSpPr>
          <p:cNvPr id="4" name="Connecteur droit avec flèche 3"/>
          <p:cNvCxnSpPr/>
          <p:nvPr/>
        </p:nvCxnSpPr>
        <p:spPr>
          <a:xfrm>
            <a:off x="3289300" y="2092960"/>
            <a:ext cx="5403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H="1" flipV="1">
            <a:off x="3323167" y="2361576"/>
            <a:ext cx="5325534" cy="11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82D44876-85A3-2D78-E4EC-FBCC91855D5F}"/>
              </a:ext>
            </a:extLst>
          </p:cNvPr>
          <p:cNvSpPr txBox="1">
            <a:spLocks/>
          </p:cNvSpPr>
          <p:nvPr/>
        </p:nvSpPr>
        <p:spPr>
          <a:xfrm>
            <a:off x="331239" y="20016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fr-FR" sz="1600" b="1" kern="0" cap="all" dirty="0">
                <a:solidFill>
                  <a:srgbClr val="003366"/>
                </a:solidFill>
                <a:latin typeface="Arial"/>
                <a:ea typeface="+mn-ea"/>
                <a:cs typeface="+mn-cs"/>
              </a:rPr>
              <a:t>MVP : OBSERVATIONS des pratiques commerciales et managériales  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9D5B1470-6F68-5E4B-E27A-C14A3B76EA18}"/>
              </a:ext>
            </a:extLst>
          </p:cNvPr>
          <p:cNvSpPr txBox="1">
            <a:spLocks/>
          </p:cNvSpPr>
          <p:nvPr/>
        </p:nvSpPr>
        <p:spPr>
          <a:xfrm>
            <a:off x="330038" y="43994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Parcours utilisateur</a:t>
            </a:r>
          </a:p>
        </p:txBody>
      </p:sp>
    </p:spTree>
    <p:extLst>
      <p:ext uri="{BB962C8B-B14F-4D97-AF65-F5344CB8AC3E}">
        <p14:creationId xmlns:p14="http://schemas.microsoft.com/office/powerpoint/2010/main" val="120360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1239" y="20016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fr-FR" sz="1600" b="1" kern="0" cap="all" dirty="0">
                <a:solidFill>
                  <a:srgbClr val="003366"/>
                </a:solidFill>
                <a:latin typeface="Arial"/>
                <a:ea typeface="+mn-ea"/>
                <a:cs typeface="+mn-cs"/>
              </a:rPr>
              <a:t>MVP : OBSERVATIONS des pratiques commerciales et managériales  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227" y="7268"/>
            <a:ext cx="2688772" cy="64499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9D190FF-C44B-F3F6-2867-ECE03B5F516C}"/>
              </a:ext>
            </a:extLst>
          </p:cNvPr>
          <p:cNvSpPr/>
          <p:nvPr/>
        </p:nvSpPr>
        <p:spPr>
          <a:xfrm>
            <a:off x="0" y="-71120"/>
            <a:ext cx="12193200" cy="900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04FD5FF3-7176-468A-18C9-5D52A496CD01}"/>
              </a:ext>
            </a:extLst>
          </p:cNvPr>
          <p:cNvCxnSpPr>
            <a:cxnSpLocks/>
          </p:cNvCxnSpPr>
          <p:nvPr/>
        </p:nvCxnSpPr>
        <p:spPr bwMode="auto">
          <a:xfrm>
            <a:off x="346636" y="711245"/>
            <a:ext cx="11496280" cy="0"/>
          </a:xfrm>
          <a:prstGeom prst="line">
            <a:avLst/>
          </a:prstGeom>
          <a:solidFill>
            <a:srgbClr val="EAEAEA"/>
          </a:solidFill>
          <a:ln w="1905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0038" y="43994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UTILISATEURS </a:t>
            </a:r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053269"/>
              </p:ext>
            </p:extLst>
          </p:nvPr>
        </p:nvGraphicFramePr>
        <p:xfrm>
          <a:off x="436878" y="765681"/>
          <a:ext cx="11354035" cy="5432309"/>
        </p:xfrm>
        <a:graphic>
          <a:graphicData uri="http://schemas.openxmlformats.org/drawingml/2006/table">
            <a:tbl>
              <a:tblPr/>
              <a:tblGrid>
                <a:gridCol w="2499362">
                  <a:extLst>
                    <a:ext uri="{9D8B030D-6E8A-4147-A177-3AD203B41FA5}">
                      <a16:colId xmlns:a16="http://schemas.microsoft.com/office/drawing/2014/main" val="15945178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62644107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25405982"/>
                    </a:ext>
                  </a:extLst>
                </a:gridCol>
                <a:gridCol w="2875280">
                  <a:extLst>
                    <a:ext uri="{9D8B030D-6E8A-4147-A177-3AD203B41FA5}">
                      <a16:colId xmlns:a16="http://schemas.microsoft.com/office/drawing/2014/main" val="2101393134"/>
                    </a:ext>
                  </a:extLst>
                </a:gridCol>
                <a:gridCol w="1254993">
                  <a:extLst>
                    <a:ext uri="{9D8B030D-6E8A-4147-A177-3AD203B41FA5}">
                      <a16:colId xmlns:a16="http://schemas.microsoft.com/office/drawing/2014/main" val="3117304810"/>
                    </a:ext>
                  </a:extLst>
                </a:gridCol>
              </a:tblGrid>
              <a:tr h="517007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APPARTENANCE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PROFIL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ROLE MVP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NOMBRE</a:t>
                      </a:r>
                    </a:p>
                    <a:p>
                      <a:pPr algn="l" rtl="0" fontAlgn="t"/>
                      <a:r>
                        <a:rPr lang="fr-F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D’UTILISATEURS 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43951"/>
                  </a:ext>
                </a:extLst>
              </a:tr>
              <a:tr h="255412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Marché</a:t>
                      </a:r>
                      <a:r>
                        <a:rPr lang="fr-FR" sz="1200" b="0" i="0" u="none" strike="noStrike" baseline="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 des </a:t>
                      </a:r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particuliers 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Directeur de Groupe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3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Directeur de groupe 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3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Observateur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19205"/>
                  </a:ext>
                </a:extLst>
              </a:tr>
              <a:tr h="255412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Marché</a:t>
                      </a:r>
                      <a:r>
                        <a:rPr lang="fr-FR" sz="1200" b="0" i="0" u="none" strike="noStrike" baseline="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 des </a:t>
                      </a:r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particuliers 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DA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Directeur d’agence 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Observateur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5922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Marché des particuliers 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RCP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Responsable clientèle particuliers 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Observateur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94032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Marché</a:t>
                      </a:r>
                      <a:r>
                        <a:rPr lang="fr-FR" sz="1200" b="0" i="0" u="none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des </a:t>
                      </a:r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particuliers OU multi marchés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CAC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Chargé d'appui commercial </a:t>
                      </a:r>
                      <a:endParaRPr lang="fr-FR" sz="120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Cible de l’observation 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23406"/>
                  </a:ext>
                </a:extLst>
              </a:tr>
              <a:tr h="401357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Marché</a:t>
                      </a:r>
                      <a:r>
                        <a:rPr lang="fr-FR" sz="1200" b="0" i="0" u="none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des </a:t>
                      </a:r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particuliers OU multi marchés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Conseiller IGP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Conseiller IGP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Cible de l’observation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69923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Marché</a:t>
                      </a:r>
                      <a:r>
                        <a:rPr lang="fr-FR" sz="1200" b="0" i="0" u="none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des </a:t>
                      </a:r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particuliers OU multi marchés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Conseiller PRO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Conseiller PRO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Cible de l’observation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8337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Marché</a:t>
                      </a:r>
                      <a:r>
                        <a:rPr lang="fr-FR" sz="1200" b="0" i="0" u="none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des </a:t>
                      </a:r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particuliers OU multi marchés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Conseiller Premium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Conseiller Premium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Cible de l’observation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3045342"/>
                  </a:ext>
                </a:extLst>
              </a:tr>
              <a:tr h="314651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Marché entreprises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Directeur de CAF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Directeur du centre d’affaires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Observateur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089343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Marché entreprises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RCE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Responsable clientèle entreprises (RCE)</a:t>
                      </a:r>
                    </a:p>
                    <a:p>
                      <a:pPr marL="0" algn="l" defTabSz="914400" rtl="0" eaLnBrk="1" fontAlgn="ctr" latinLnBrk="0" hangingPunct="1"/>
                      <a:endParaRPr lang="fr-FR" sz="1200" b="0" i="0" u="none" strike="noStrike" kern="1200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Observateur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55917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Marché entreprises OU multi marchés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Gestionnaire entreprises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Gestionnaire entreprises (CAE??)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Cible de l’observation 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136755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Marché entreprises OU multi marchés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Cash &amp; Trade </a:t>
                      </a:r>
                      <a:r>
                        <a:rPr lang="fr-FR" sz="1200" b="0" i="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Specialist</a:t>
                      </a:r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endParaRPr lang="fr-FR" sz="120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Cash &amp; Trade </a:t>
                      </a:r>
                      <a:r>
                        <a:rPr lang="fr-FR" sz="1200" b="0" i="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Specialist</a:t>
                      </a:r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endParaRPr lang="fr-FR" sz="120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Cible de l’observation 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391959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Marché entreprises OU multi marchés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Chargé d’affaires </a:t>
                      </a:r>
                      <a:endParaRPr lang="fr-FR" sz="120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Chargé d’affaires </a:t>
                      </a:r>
                      <a:endParaRPr lang="fr-FR" sz="120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Cible de l’observation 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154459"/>
                  </a:ext>
                </a:extLst>
              </a:tr>
              <a:tr h="29440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Multi marchés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Directeur CEMM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Directeur du centre d’expertise multi marchés 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Observateur 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309879"/>
                  </a:ext>
                </a:extLst>
              </a:tr>
              <a:tr h="272627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Transverse 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Animateur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3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Animateur commercial 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3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Observateur </a:t>
                      </a:r>
                    </a:p>
                  </a:txBody>
                  <a:tcPr marL="4225" marR="4225" marT="42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2196673"/>
                  </a:ext>
                </a:extLst>
              </a:tr>
              <a:tr h="32639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Transverse 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Administrateur fonctionnel </a:t>
                      </a:r>
                    </a:p>
                  </a:txBody>
                  <a:tcPr marL="4225" marR="4225" marT="42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3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225" marR="4225" marT="42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3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NA </a:t>
                      </a:r>
                    </a:p>
                  </a:txBody>
                  <a:tcPr marL="4225" marR="4225" marT="42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 0</a:t>
                      </a:r>
                    </a:p>
                  </a:txBody>
                  <a:tcPr marL="4225" marR="4225" marT="42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579471"/>
                  </a:ext>
                </a:extLst>
              </a:tr>
            </a:tbl>
          </a:graphicData>
        </a:graphic>
      </p:graphicFrame>
      <p:sp>
        <p:nvSpPr>
          <p:cNvPr id="2" name="TextBox 4079">
            <a:extLst>
              <a:ext uri="{FF2B5EF4-FFF2-40B4-BE49-F238E27FC236}">
                <a16:creationId xmlns:a16="http://schemas.microsoft.com/office/drawing/2014/main" id="{A5087B6E-7F64-1DB1-0D93-48503950938B}"/>
              </a:ext>
            </a:extLst>
          </p:cNvPr>
          <p:cNvSpPr txBox="1"/>
          <p:nvPr/>
        </p:nvSpPr>
        <p:spPr>
          <a:xfrm>
            <a:off x="346636" y="6279555"/>
            <a:ext cx="2684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171446" indent="-171446" defTabSz="457189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fr-FR" dirty="0">
                <a:solidFill>
                  <a:srgbClr val="1F497D"/>
                </a:solidFill>
                <a:latin typeface="Calibri" panose="020F0502020204030204" pitchFamily="34" charset="0"/>
                <a:cs typeface="+mn-cs"/>
              </a:rPr>
              <a:t>Utilisateur</a:t>
            </a:r>
            <a:r>
              <a:rPr lang="fr-FR" dirty="0"/>
              <a:t> </a:t>
            </a:r>
            <a:r>
              <a:rPr lang="fr-FR" dirty="0">
                <a:solidFill>
                  <a:srgbClr val="1F497D"/>
                </a:solidFill>
                <a:latin typeface="Calibri" panose="020F0502020204030204" pitchFamily="34" charset="0"/>
                <a:cs typeface="+mn-cs"/>
              </a:rPr>
              <a:t>MVP</a:t>
            </a:r>
          </a:p>
        </p:txBody>
      </p:sp>
      <p:sp>
        <p:nvSpPr>
          <p:cNvPr id="3" name="TextBox 4079">
            <a:extLst>
              <a:ext uri="{FF2B5EF4-FFF2-40B4-BE49-F238E27FC236}">
                <a16:creationId xmlns:a16="http://schemas.microsoft.com/office/drawing/2014/main" id="{24FAAB90-6DD8-54AF-290D-1FAE4DD604DD}"/>
              </a:ext>
            </a:extLst>
          </p:cNvPr>
          <p:cNvSpPr txBox="1"/>
          <p:nvPr/>
        </p:nvSpPr>
        <p:spPr>
          <a:xfrm>
            <a:off x="346636" y="6499619"/>
            <a:ext cx="2684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171446" indent="-171446" defTabSz="457189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Utilisateur Cible</a:t>
            </a:r>
          </a:p>
        </p:txBody>
      </p:sp>
    </p:spTree>
    <p:extLst>
      <p:ext uri="{BB962C8B-B14F-4D97-AF65-F5344CB8AC3E}">
        <p14:creationId xmlns:p14="http://schemas.microsoft.com/office/powerpoint/2010/main" val="174440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227" y="7268"/>
            <a:ext cx="2688772" cy="64499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9D190FF-C44B-F3F6-2867-ECE03B5F516C}"/>
              </a:ext>
            </a:extLst>
          </p:cNvPr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04FD5FF3-7176-468A-18C9-5D52A496CD01}"/>
              </a:ext>
            </a:extLst>
          </p:cNvPr>
          <p:cNvCxnSpPr>
            <a:cxnSpLocks/>
          </p:cNvCxnSpPr>
          <p:nvPr/>
        </p:nvCxnSpPr>
        <p:spPr bwMode="auto">
          <a:xfrm>
            <a:off x="346636" y="711245"/>
            <a:ext cx="11496280" cy="0"/>
          </a:xfrm>
          <a:prstGeom prst="line">
            <a:avLst/>
          </a:prstGeom>
          <a:solidFill>
            <a:srgbClr val="EAEAEA"/>
          </a:solidFill>
          <a:ln w="1905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Rectangle 2"/>
          <p:cNvSpPr/>
          <p:nvPr/>
        </p:nvSpPr>
        <p:spPr>
          <a:xfrm>
            <a:off x="431575" y="1309379"/>
            <a:ext cx="1052357" cy="1789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Région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7025" y="2355737"/>
            <a:ext cx="958277" cy="2233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Groupe 1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21225" y="2355737"/>
            <a:ext cx="1066596" cy="2202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Groupe 2 </a:t>
            </a:r>
          </a:p>
        </p:txBody>
      </p:sp>
      <p:cxnSp>
        <p:nvCxnSpPr>
          <p:cNvPr id="42" name="Connecteur droit avec flèche 41"/>
          <p:cNvCxnSpPr>
            <a:cxnSpLocks/>
          </p:cNvCxnSpPr>
          <p:nvPr/>
        </p:nvCxnSpPr>
        <p:spPr>
          <a:xfrm>
            <a:off x="745864" y="2028061"/>
            <a:ext cx="0" cy="316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97834" y="2917034"/>
            <a:ext cx="860354" cy="2706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Agence 1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00095" y="2917034"/>
            <a:ext cx="967469" cy="2656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Agence 2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51592" y="2917034"/>
            <a:ext cx="967469" cy="2656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Agence N 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53800" y="3522894"/>
            <a:ext cx="1163052" cy="42773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Directeur d’agence/ RCP </a:t>
            </a:r>
          </a:p>
        </p:txBody>
      </p:sp>
      <p:cxnSp>
        <p:nvCxnSpPr>
          <p:cNvPr id="66" name="Connecteur droit avec flèche 65"/>
          <p:cNvCxnSpPr>
            <a:cxnSpLocks/>
            <a:stCxn id="52" idx="2"/>
            <a:endCxn id="61" idx="0"/>
          </p:cNvCxnSpPr>
          <p:nvPr/>
        </p:nvCxnSpPr>
        <p:spPr>
          <a:xfrm flipH="1">
            <a:off x="3035326" y="3182701"/>
            <a:ext cx="1" cy="340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2431351" y="4596756"/>
            <a:ext cx="1389012" cy="210326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Conseiller premium</a:t>
            </a:r>
          </a:p>
        </p:txBody>
      </p:sp>
      <p:sp>
        <p:nvSpPr>
          <p:cNvPr id="82" name="Rectangle : coins arrondis 275">
            <a:extLst>
              <a:ext uri="{FF2B5EF4-FFF2-40B4-BE49-F238E27FC236}">
                <a16:creationId xmlns:a16="http://schemas.microsoft.com/office/drawing/2014/main" id="{0FB95ACC-AE2C-499B-425C-97EFFA0D7565}"/>
              </a:ext>
            </a:extLst>
          </p:cNvPr>
          <p:cNvSpPr/>
          <p:nvPr/>
        </p:nvSpPr>
        <p:spPr>
          <a:xfrm>
            <a:off x="377154" y="879991"/>
            <a:ext cx="2599154" cy="35988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Agence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83" name="Rectangle : coins arrondis 275">
            <a:extLst>
              <a:ext uri="{FF2B5EF4-FFF2-40B4-BE49-F238E27FC236}">
                <a16:creationId xmlns:a16="http://schemas.microsoft.com/office/drawing/2014/main" id="{0FB95ACC-AE2C-499B-425C-97EFFA0D7565}"/>
              </a:ext>
            </a:extLst>
          </p:cNvPr>
          <p:cNvSpPr/>
          <p:nvPr/>
        </p:nvSpPr>
        <p:spPr>
          <a:xfrm>
            <a:off x="8083519" y="873891"/>
            <a:ext cx="2599154" cy="365991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CAF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8770103" y="1377115"/>
            <a:ext cx="1466247" cy="2766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Région </a:t>
            </a:r>
          </a:p>
        </p:txBody>
      </p:sp>
      <p:cxnSp>
        <p:nvCxnSpPr>
          <p:cNvPr id="91" name="Connecteur droit avec flèche 90"/>
          <p:cNvCxnSpPr>
            <a:cxnSpLocks/>
          </p:cNvCxnSpPr>
          <p:nvPr/>
        </p:nvCxnSpPr>
        <p:spPr>
          <a:xfrm>
            <a:off x="9503227" y="2274023"/>
            <a:ext cx="0" cy="330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8290445" y="2852120"/>
            <a:ext cx="1212782" cy="2766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CAF 1 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154109" y="2852120"/>
            <a:ext cx="1238451" cy="2774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CAF 2 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572039" y="3647657"/>
            <a:ext cx="2414795" cy="421076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Directeur CAF/RCE/Animateur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886067" y="4747849"/>
            <a:ext cx="1112517" cy="56789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Gestionnaire d’entreprise 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305111" y="4744253"/>
            <a:ext cx="1329089" cy="571488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Chargé d’affaires 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447921" y="2274023"/>
            <a:ext cx="1066596" cy="395493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Directeur de groupe</a:t>
            </a:r>
          </a:p>
        </p:txBody>
      </p:sp>
      <p:cxnSp>
        <p:nvCxnSpPr>
          <p:cNvPr id="124" name="Connecteur droit avec flèche 123"/>
          <p:cNvCxnSpPr>
            <a:cxnSpLocks/>
            <a:stCxn id="40" idx="3"/>
            <a:endCxn id="123" idx="1"/>
          </p:cNvCxnSpPr>
          <p:nvPr/>
        </p:nvCxnSpPr>
        <p:spPr>
          <a:xfrm>
            <a:off x="2587821" y="2465875"/>
            <a:ext cx="860100" cy="5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itre 1">
            <a:extLst>
              <a:ext uri="{FF2B5EF4-FFF2-40B4-BE49-F238E27FC236}">
                <a16:creationId xmlns:a16="http://schemas.microsoft.com/office/drawing/2014/main" id="{8140783C-63EC-AC8F-1B8B-355C8E3478B7}"/>
              </a:ext>
            </a:extLst>
          </p:cNvPr>
          <p:cNvSpPr txBox="1">
            <a:spLocks/>
          </p:cNvSpPr>
          <p:nvPr/>
        </p:nvSpPr>
        <p:spPr>
          <a:xfrm>
            <a:off x="331239" y="20016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0" cap="all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MVP : OBSERVATIONS des pratiques commerciales et managériales  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8A4CC062-B689-DDE8-F46F-874C4172A342}"/>
              </a:ext>
            </a:extLst>
          </p:cNvPr>
          <p:cNvSpPr txBox="1">
            <a:spLocks/>
          </p:cNvSpPr>
          <p:nvPr/>
        </p:nvSpPr>
        <p:spPr>
          <a:xfrm>
            <a:off x="330038" y="43994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all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RATTACHEMENT DES UTILISATEURS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8A4806-8BB2-A8A2-6186-021DB00BBE90}"/>
              </a:ext>
            </a:extLst>
          </p:cNvPr>
          <p:cNvSpPr/>
          <p:nvPr/>
        </p:nvSpPr>
        <p:spPr>
          <a:xfrm>
            <a:off x="560034" y="4593698"/>
            <a:ext cx="1059005" cy="230508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Conseiller IGP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2033C6-577C-3B0F-45F9-6D1761677019}"/>
              </a:ext>
            </a:extLst>
          </p:cNvPr>
          <p:cNvSpPr/>
          <p:nvPr/>
        </p:nvSpPr>
        <p:spPr>
          <a:xfrm>
            <a:off x="5062697" y="3489242"/>
            <a:ext cx="849528" cy="495043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Animateur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086D10D-04BC-D24F-DD2F-BED0387147AE}"/>
              </a:ext>
            </a:extLst>
          </p:cNvPr>
          <p:cNvSpPr/>
          <p:nvPr/>
        </p:nvSpPr>
        <p:spPr>
          <a:xfrm>
            <a:off x="3955101" y="4576574"/>
            <a:ext cx="1075434" cy="24763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Conseiller pro</a:t>
            </a:r>
          </a:p>
        </p:txBody>
      </p:sp>
      <p:cxnSp>
        <p:nvCxnSpPr>
          <p:cNvPr id="150" name="Connecteur droit avec flèche 149">
            <a:extLst>
              <a:ext uri="{FF2B5EF4-FFF2-40B4-BE49-F238E27FC236}">
                <a16:creationId xmlns:a16="http://schemas.microsoft.com/office/drawing/2014/main" id="{FEBDA13B-511C-245D-F667-67A14B39A3EC}"/>
              </a:ext>
            </a:extLst>
          </p:cNvPr>
          <p:cNvCxnSpPr>
            <a:cxnSpLocks/>
            <a:stCxn id="61" idx="1"/>
            <a:endCxn id="11" idx="0"/>
          </p:cNvCxnSpPr>
          <p:nvPr/>
        </p:nvCxnSpPr>
        <p:spPr>
          <a:xfrm flipH="1">
            <a:off x="1089537" y="3736764"/>
            <a:ext cx="1364263" cy="85693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" name="Connecteur droit avec flèche 151">
            <a:extLst>
              <a:ext uri="{FF2B5EF4-FFF2-40B4-BE49-F238E27FC236}">
                <a16:creationId xmlns:a16="http://schemas.microsoft.com/office/drawing/2014/main" id="{AAC8B60E-461C-9406-DCF5-39F443810902}"/>
              </a:ext>
            </a:extLst>
          </p:cNvPr>
          <p:cNvCxnSpPr>
            <a:cxnSpLocks/>
            <a:stCxn id="61" idx="2"/>
            <a:endCxn id="68" idx="0"/>
          </p:cNvCxnSpPr>
          <p:nvPr/>
        </p:nvCxnSpPr>
        <p:spPr>
          <a:xfrm>
            <a:off x="3035326" y="3950633"/>
            <a:ext cx="90531" cy="646123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5" name="Connecteur droit avec flèche 154">
            <a:extLst>
              <a:ext uri="{FF2B5EF4-FFF2-40B4-BE49-F238E27FC236}">
                <a16:creationId xmlns:a16="http://schemas.microsoft.com/office/drawing/2014/main" id="{D84F7A94-BD95-7C6C-49B0-04C9B41F6306}"/>
              </a:ext>
            </a:extLst>
          </p:cNvPr>
          <p:cNvCxnSpPr>
            <a:cxnSpLocks/>
            <a:stCxn id="61" idx="3"/>
            <a:endCxn id="47" idx="0"/>
          </p:cNvCxnSpPr>
          <p:nvPr/>
        </p:nvCxnSpPr>
        <p:spPr>
          <a:xfrm>
            <a:off x="3616852" y="3736764"/>
            <a:ext cx="875966" cy="83981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8" name="Connecteur droit avec flèche 157">
            <a:extLst>
              <a:ext uri="{FF2B5EF4-FFF2-40B4-BE49-F238E27FC236}">
                <a16:creationId xmlns:a16="http://schemas.microsoft.com/office/drawing/2014/main" id="{15F8062C-1D99-D82E-B91E-4828BD4AE919}"/>
              </a:ext>
            </a:extLst>
          </p:cNvPr>
          <p:cNvCxnSpPr>
            <a:cxnSpLocks/>
            <a:stCxn id="123" idx="2"/>
          </p:cNvCxnSpPr>
          <p:nvPr/>
        </p:nvCxnSpPr>
        <p:spPr>
          <a:xfrm flipH="1">
            <a:off x="3605205" y="2669516"/>
            <a:ext cx="376014" cy="852395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Connecteur droit avec flèche 160">
            <a:extLst>
              <a:ext uri="{FF2B5EF4-FFF2-40B4-BE49-F238E27FC236}">
                <a16:creationId xmlns:a16="http://schemas.microsoft.com/office/drawing/2014/main" id="{46A96A0E-6A7F-9027-249A-15BF02188870}"/>
              </a:ext>
            </a:extLst>
          </p:cNvPr>
          <p:cNvCxnSpPr>
            <a:cxnSpLocks/>
            <a:stCxn id="35" idx="1"/>
            <a:endCxn id="61" idx="3"/>
          </p:cNvCxnSpPr>
          <p:nvPr/>
        </p:nvCxnSpPr>
        <p:spPr>
          <a:xfrm flipH="1">
            <a:off x="3616852" y="3736764"/>
            <a:ext cx="1445845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6" name="Connecteur : en angle 165">
            <a:extLst>
              <a:ext uri="{FF2B5EF4-FFF2-40B4-BE49-F238E27FC236}">
                <a16:creationId xmlns:a16="http://schemas.microsoft.com/office/drawing/2014/main" id="{962B372A-52F4-88D3-DB5E-42B61AC0C028}"/>
              </a:ext>
            </a:extLst>
          </p:cNvPr>
          <p:cNvCxnSpPr>
            <a:stCxn id="35" idx="2"/>
            <a:endCxn id="47" idx="3"/>
          </p:cNvCxnSpPr>
          <p:nvPr/>
        </p:nvCxnSpPr>
        <p:spPr>
          <a:xfrm rot="5400000">
            <a:off x="4900946" y="4113874"/>
            <a:ext cx="716105" cy="456926"/>
          </a:xfrm>
          <a:prstGeom prst="bentConnector2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7" name="Connecteur : en angle 166">
            <a:extLst>
              <a:ext uri="{FF2B5EF4-FFF2-40B4-BE49-F238E27FC236}">
                <a16:creationId xmlns:a16="http://schemas.microsoft.com/office/drawing/2014/main" id="{ABE406E9-9AC8-A90A-AFA5-97505CF1DDCC}"/>
              </a:ext>
            </a:extLst>
          </p:cNvPr>
          <p:cNvCxnSpPr>
            <a:cxnSpLocks/>
            <a:stCxn id="35" idx="2"/>
            <a:endCxn id="68" idx="2"/>
          </p:cNvCxnSpPr>
          <p:nvPr/>
        </p:nvCxnSpPr>
        <p:spPr>
          <a:xfrm rot="5400000">
            <a:off x="3895261" y="3214881"/>
            <a:ext cx="822797" cy="2361604"/>
          </a:xfrm>
          <a:prstGeom prst="bentConnector3">
            <a:avLst>
              <a:gd name="adj1" fmla="val 127783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2" name="Connecteur : en angle 171">
            <a:extLst>
              <a:ext uri="{FF2B5EF4-FFF2-40B4-BE49-F238E27FC236}">
                <a16:creationId xmlns:a16="http://schemas.microsoft.com/office/drawing/2014/main" id="{8BC30113-70E9-5F7C-F235-BA757B121C01}"/>
              </a:ext>
            </a:extLst>
          </p:cNvPr>
          <p:cNvCxnSpPr>
            <a:cxnSpLocks/>
            <a:stCxn id="35" idx="2"/>
            <a:endCxn id="11" idx="2"/>
          </p:cNvCxnSpPr>
          <p:nvPr/>
        </p:nvCxnSpPr>
        <p:spPr>
          <a:xfrm rot="5400000">
            <a:off x="2868539" y="2205283"/>
            <a:ext cx="839921" cy="4397924"/>
          </a:xfrm>
          <a:prstGeom prst="bentConnector3">
            <a:avLst>
              <a:gd name="adj1" fmla="val 205844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8" name="Connecteur : en angle 187">
            <a:extLst>
              <a:ext uri="{FF2B5EF4-FFF2-40B4-BE49-F238E27FC236}">
                <a16:creationId xmlns:a16="http://schemas.microsoft.com/office/drawing/2014/main" id="{C01A0529-363C-80F7-4CF3-76F805C2F2AE}"/>
              </a:ext>
            </a:extLst>
          </p:cNvPr>
          <p:cNvCxnSpPr>
            <a:stCxn id="93" idx="0"/>
            <a:endCxn id="94" idx="0"/>
          </p:cNvCxnSpPr>
          <p:nvPr/>
        </p:nvCxnSpPr>
        <p:spPr>
          <a:xfrm rot="5400000" flipH="1" flipV="1">
            <a:off x="9835085" y="1913871"/>
            <a:ext cx="12700" cy="187649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1" name="Connecteur droit avec flèche 190">
            <a:extLst>
              <a:ext uri="{FF2B5EF4-FFF2-40B4-BE49-F238E27FC236}">
                <a16:creationId xmlns:a16="http://schemas.microsoft.com/office/drawing/2014/main" id="{6A9FC339-8290-1543-2197-ED6E3E9F1B86}"/>
              </a:ext>
            </a:extLst>
          </p:cNvPr>
          <p:cNvCxnSpPr>
            <a:cxnSpLocks/>
            <a:stCxn id="94" idx="2"/>
            <a:endCxn id="106" idx="0"/>
          </p:cNvCxnSpPr>
          <p:nvPr/>
        </p:nvCxnSpPr>
        <p:spPr>
          <a:xfrm>
            <a:off x="10773335" y="3129568"/>
            <a:ext cx="6102" cy="518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8C0F55D-1116-27BF-1D10-3E7E3EABD6C8}"/>
              </a:ext>
            </a:extLst>
          </p:cNvPr>
          <p:cNvSpPr/>
          <p:nvPr/>
        </p:nvSpPr>
        <p:spPr>
          <a:xfrm>
            <a:off x="7775167" y="4744253"/>
            <a:ext cx="1329089" cy="571488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Cash &amp; Trade Specialist </a:t>
            </a:r>
          </a:p>
        </p:txBody>
      </p:sp>
      <p:cxnSp>
        <p:nvCxnSpPr>
          <p:cNvPr id="5" name="Connecteur : en angle 4">
            <a:extLst>
              <a:ext uri="{FF2B5EF4-FFF2-40B4-BE49-F238E27FC236}">
                <a16:creationId xmlns:a16="http://schemas.microsoft.com/office/drawing/2014/main" id="{A86ECDFB-ABB2-3A48-46BD-B963C51428A8}"/>
              </a:ext>
            </a:extLst>
          </p:cNvPr>
          <p:cNvCxnSpPr>
            <a:cxnSpLocks/>
            <a:stCxn id="106" idx="2"/>
            <a:endCxn id="4" idx="0"/>
          </p:cNvCxnSpPr>
          <p:nvPr/>
        </p:nvCxnSpPr>
        <p:spPr>
          <a:xfrm rot="5400000">
            <a:off x="9271815" y="3236631"/>
            <a:ext cx="675520" cy="233972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55BB430D-9720-D763-CEF2-B4B27D720C5A}"/>
              </a:ext>
            </a:extLst>
          </p:cNvPr>
          <p:cNvCxnSpPr>
            <a:cxnSpLocks/>
          </p:cNvCxnSpPr>
          <p:nvPr/>
        </p:nvCxnSpPr>
        <p:spPr>
          <a:xfrm>
            <a:off x="9956956" y="4406493"/>
            <a:ext cx="1" cy="33776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cteur : en angle 16">
            <a:extLst>
              <a:ext uri="{FF2B5EF4-FFF2-40B4-BE49-F238E27FC236}">
                <a16:creationId xmlns:a16="http://schemas.microsoft.com/office/drawing/2014/main" id="{31B59AEC-73DB-2B9A-2189-51A773BB3CA8}"/>
              </a:ext>
            </a:extLst>
          </p:cNvPr>
          <p:cNvCxnSpPr>
            <a:cxnSpLocks/>
            <a:stCxn id="106" idx="2"/>
            <a:endCxn id="107" idx="0"/>
          </p:cNvCxnSpPr>
          <p:nvPr/>
        </p:nvCxnSpPr>
        <p:spPr>
          <a:xfrm rot="16200000" flipH="1">
            <a:off x="10771323" y="4076846"/>
            <a:ext cx="679116" cy="66288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1B579A-D69B-839D-8FE6-43E5D5D8723B}"/>
              </a:ext>
            </a:extLst>
          </p:cNvPr>
          <p:cNvSpPr/>
          <p:nvPr/>
        </p:nvSpPr>
        <p:spPr>
          <a:xfrm>
            <a:off x="1791052" y="4610227"/>
            <a:ext cx="431071" cy="19685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CAC</a:t>
            </a:r>
          </a:p>
        </p:txBody>
      </p:sp>
      <p:cxnSp>
        <p:nvCxnSpPr>
          <p:cNvPr id="6" name="Connecteur : en angle 5">
            <a:extLst>
              <a:ext uri="{FF2B5EF4-FFF2-40B4-BE49-F238E27FC236}">
                <a16:creationId xmlns:a16="http://schemas.microsoft.com/office/drawing/2014/main" id="{69403633-9900-B375-A162-3DCC887920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96429" y="4412024"/>
            <a:ext cx="3480875" cy="395058"/>
          </a:xfrm>
          <a:prstGeom prst="bentConnector4">
            <a:avLst>
              <a:gd name="adj1" fmla="val -381"/>
              <a:gd name="adj2" fmla="val 229875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E09636D3-DBC6-F7CD-1D7D-1898892B7DD8}"/>
              </a:ext>
            </a:extLst>
          </p:cNvPr>
          <p:cNvCxnSpPr>
            <a:cxnSpLocks/>
            <a:stCxn id="61" idx="2"/>
            <a:endCxn id="2" idx="0"/>
          </p:cNvCxnSpPr>
          <p:nvPr/>
        </p:nvCxnSpPr>
        <p:spPr>
          <a:xfrm flipH="1">
            <a:off x="2006588" y="3950633"/>
            <a:ext cx="1028738" cy="65959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Rectangle : coins arrondis 275">
            <a:extLst>
              <a:ext uri="{FF2B5EF4-FFF2-40B4-BE49-F238E27FC236}">
                <a16:creationId xmlns:a16="http://schemas.microsoft.com/office/drawing/2014/main" id="{CB834D66-0DFE-10D8-C51E-64DC68D0CE96}"/>
              </a:ext>
            </a:extLst>
          </p:cNvPr>
          <p:cNvSpPr/>
          <p:nvPr/>
        </p:nvSpPr>
        <p:spPr>
          <a:xfrm>
            <a:off x="5662052" y="878212"/>
            <a:ext cx="2008748" cy="36166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CEMM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75B68E-439A-EC47-9DA2-3ED3A41A43EA}"/>
              </a:ext>
            </a:extLst>
          </p:cNvPr>
          <p:cNvSpPr/>
          <p:nvPr/>
        </p:nvSpPr>
        <p:spPr>
          <a:xfrm>
            <a:off x="6372506" y="2850442"/>
            <a:ext cx="1298294" cy="276646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Directeur CEMM</a:t>
            </a:r>
          </a:p>
        </p:txBody>
      </p: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D94AC28E-9171-09F3-47C5-78105962CB32}"/>
              </a:ext>
            </a:extLst>
          </p:cNvPr>
          <p:cNvCxnSpPr>
            <a:cxnSpLocks/>
            <a:stCxn id="35" idx="0"/>
            <a:endCxn id="22" idx="1"/>
          </p:cNvCxnSpPr>
          <p:nvPr/>
        </p:nvCxnSpPr>
        <p:spPr>
          <a:xfrm rot="5400000" flipH="1" flipV="1">
            <a:off x="5679745" y="2796482"/>
            <a:ext cx="500477" cy="885045"/>
          </a:xfrm>
          <a:prstGeom prst="bentConnector2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necteur : en angle 29">
            <a:extLst>
              <a:ext uri="{FF2B5EF4-FFF2-40B4-BE49-F238E27FC236}">
                <a16:creationId xmlns:a16="http://schemas.microsoft.com/office/drawing/2014/main" id="{72620DDD-2115-EF99-B8F9-23EBD642BEBD}"/>
              </a:ext>
            </a:extLst>
          </p:cNvPr>
          <p:cNvCxnSpPr>
            <a:cxnSpLocks/>
            <a:stCxn id="22" idx="2"/>
            <a:endCxn id="47" idx="2"/>
          </p:cNvCxnSpPr>
          <p:nvPr/>
        </p:nvCxnSpPr>
        <p:spPr>
          <a:xfrm rot="5400000">
            <a:off x="4908678" y="2711229"/>
            <a:ext cx="1697117" cy="2528835"/>
          </a:xfrm>
          <a:prstGeom prst="bentConnector3">
            <a:avLst>
              <a:gd name="adj1" fmla="val 199777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4DED8538-DCE7-6F49-B968-21E1C70FD0F9}"/>
              </a:ext>
            </a:extLst>
          </p:cNvPr>
          <p:cNvCxnSpPr>
            <a:cxnSpLocks/>
          </p:cNvCxnSpPr>
          <p:nvPr/>
        </p:nvCxnSpPr>
        <p:spPr>
          <a:xfrm>
            <a:off x="7028316" y="5224408"/>
            <a:ext cx="1409703" cy="91333"/>
          </a:xfrm>
          <a:prstGeom prst="bentConnector4">
            <a:avLst>
              <a:gd name="adj1" fmla="val 3"/>
              <a:gd name="adj2" fmla="val 350293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Connecteur : en angle 47">
            <a:extLst>
              <a:ext uri="{FF2B5EF4-FFF2-40B4-BE49-F238E27FC236}">
                <a16:creationId xmlns:a16="http://schemas.microsoft.com/office/drawing/2014/main" id="{2486ABBE-B0DD-6033-BA79-AAD02D3FC571}"/>
              </a:ext>
            </a:extLst>
          </p:cNvPr>
          <p:cNvCxnSpPr>
            <a:cxnSpLocks/>
            <a:endCxn id="108" idx="2"/>
          </p:cNvCxnSpPr>
          <p:nvPr/>
        </p:nvCxnSpPr>
        <p:spPr>
          <a:xfrm flipV="1">
            <a:off x="7030009" y="5315741"/>
            <a:ext cx="2939647" cy="491242"/>
          </a:xfrm>
          <a:prstGeom prst="bentConnector2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5E64C5D5-582F-049E-75F9-262D123E5F21}"/>
              </a:ext>
            </a:extLst>
          </p:cNvPr>
          <p:cNvSpPr/>
          <p:nvPr/>
        </p:nvSpPr>
        <p:spPr>
          <a:xfrm>
            <a:off x="6011240" y="1377115"/>
            <a:ext cx="1466247" cy="2766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Région </a:t>
            </a:r>
          </a:p>
        </p:txBody>
      </p: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4B004690-29C3-ADD8-EF60-A5BC0B6A7DCD}"/>
              </a:ext>
            </a:extLst>
          </p:cNvPr>
          <p:cNvCxnSpPr>
            <a:cxnSpLocks/>
          </p:cNvCxnSpPr>
          <p:nvPr/>
        </p:nvCxnSpPr>
        <p:spPr>
          <a:xfrm>
            <a:off x="6795166" y="2576013"/>
            <a:ext cx="0" cy="282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8" name="Connecteur : en angle 57">
            <a:extLst>
              <a:ext uri="{FF2B5EF4-FFF2-40B4-BE49-F238E27FC236}">
                <a16:creationId xmlns:a16="http://schemas.microsoft.com/office/drawing/2014/main" id="{1CC4D42F-603F-C908-69EA-16B772421A9E}"/>
              </a:ext>
            </a:extLst>
          </p:cNvPr>
          <p:cNvCxnSpPr>
            <a:cxnSpLocks/>
            <a:endCxn id="107" idx="2"/>
          </p:cNvCxnSpPr>
          <p:nvPr/>
        </p:nvCxnSpPr>
        <p:spPr>
          <a:xfrm flipV="1">
            <a:off x="7030009" y="5315740"/>
            <a:ext cx="4412317" cy="884397"/>
          </a:xfrm>
          <a:prstGeom prst="bentConnector2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Connecteur : en angle 59">
            <a:extLst>
              <a:ext uri="{FF2B5EF4-FFF2-40B4-BE49-F238E27FC236}">
                <a16:creationId xmlns:a16="http://schemas.microsoft.com/office/drawing/2014/main" id="{45E2C4F3-7997-2ED4-C7F9-27297583A179}"/>
              </a:ext>
            </a:extLst>
          </p:cNvPr>
          <p:cNvCxnSpPr>
            <a:cxnSpLocks/>
          </p:cNvCxnSpPr>
          <p:nvPr/>
        </p:nvCxnSpPr>
        <p:spPr>
          <a:xfrm rot="10800000">
            <a:off x="2587821" y="4815377"/>
            <a:ext cx="4442188" cy="1695493"/>
          </a:xfrm>
          <a:prstGeom prst="bentConnector3">
            <a:avLst>
              <a:gd name="adj1" fmla="val 99936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Connecteur : en angle 71">
            <a:extLst>
              <a:ext uri="{FF2B5EF4-FFF2-40B4-BE49-F238E27FC236}">
                <a16:creationId xmlns:a16="http://schemas.microsoft.com/office/drawing/2014/main" id="{B406543A-2972-4FA6-F2A5-788031233F93}"/>
              </a:ext>
            </a:extLst>
          </p:cNvPr>
          <p:cNvCxnSpPr>
            <a:cxnSpLocks/>
          </p:cNvCxnSpPr>
          <p:nvPr/>
        </p:nvCxnSpPr>
        <p:spPr>
          <a:xfrm rot="10800000">
            <a:off x="1842662" y="4816360"/>
            <a:ext cx="4442188" cy="1695493"/>
          </a:xfrm>
          <a:prstGeom prst="bentConnector3">
            <a:avLst>
              <a:gd name="adj1" fmla="val 99936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Connecteur : en angle 72">
            <a:extLst>
              <a:ext uri="{FF2B5EF4-FFF2-40B4-BE49-F238E27FC236}">
                <a16:creationId xmlns:a16="http://schemas.microsoft.com/office/drawing/2014/main" id="{419008D4-59CC-68E8-18FE-354133743A12}"/>
              </a:ext>
            </a:extLst>
          </p:cNvPr>
          <p:cNvCxnSpPr>
            <a:cxnSpLocks/>
          </p:cNvCxnSpPr>
          <p:nvPr/>
        </p:nvCxnSpPr>
        <p:spPr>
          <a:xfrm rot="10800000">
            <a:off x="828011" y="4816360"/>
            <a:ext cx="4442188" cy="1695493"/>
          </a:xfrm>
          <a:prstGeom prst="bentConnector3">
            <a:avLst>
              <a:gd name="adj1" fmla="val 99936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F9346F9B-93EF-ED4D-2B71-D47B9DED5690}"/>
              </a:ext>
            </a:extLst>
          </p:cNvPr>
          <p:cNvCxnSpPr>
            <a:cxnSpLocks/>
          </p:cNvCxnSpPr>
          <p:nvPr/>
        </p:nvCxnSpPr>
        <p:spPr>
          <a:xfrm>
            <a:off x="154433" y="6657835"/>
            <a:ext cx="495807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76BCC669-139E-A59C-8E73-EA5893FC82F3}"/>
              </a:ext>
            </a:extLst>
          </p:cNvPr>
          <p:cNvCxnSpPr>
            <a:cxnSpLocks/>
          </p:cNvCxnSpPr>
          <p:nvPr/>
        </p:nvCxnSpPr>
        <p:spPr>
          <a:xfrm>
            <a:off x="154433" y="6779755"/>
            <a:ext cx="495807" cy="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TextBox 4079">
            <a:extLst>
              <a:ext uri="{FF2B5EF4-FFF2-40B4-BE49-F238E27FC236}">
                <a16:creationId xmlns:a16="http://schemas.microsoft.com/office/drawing/2014/main" id="{21830BC9-A462-6D58-AD98-4B6DF76235D5}"/>
              </a:ext>
            </a:extLst>
          </p:cNvPr>
          <p:cNvSpPr txBox="1"/>
          <p:nvPr/>
        </p:nvSpPr>
        <p:spPr>
          <a:xfrm>
            <a:off x="664328" y="6556156"/>
            <a:ext cx="2684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171446" indent="-171446" defTabSz="457189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Sens unique de saisie de l’observation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715928-9248-6E21-EF68-F2D1CA907823}"/>
              </a:ext>
            </a:extLst>
          </p:cNvPr>
          <p:cNvSpPr/>
          <p:nvPr/>
        </p:nvSpPr>
        <p:spPr>
          <a:xfrm>
            <a:off x="377154" y="1707707"/>
            <a:ext cx="2206418" cy="297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Région adjoint (sous région/réseau)</a:t>
            </a:r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073171A-552D-E773-4DF5-7C29867983CC}"/>
              </a:ext>
            </a:extLst>
          </p:cNvPr>
          <p:cNvCxnSpPr>
            <a:cxnSpLocks/>
          </p:cNvCxnSpPr>
          <p:nvPr/>
        </p:nvCxnSpPr>
        <p:spPr>
          <a:xfrm>
            <a:off x="745864" y="1488343"/>
            <a:ext cx="0" cy="219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7CD05E2E-982D-FDAA-77CE-578188AD3D0E}"/>
              </a:ext>
            </a:extLst>
          </p:cNvPr>
          <p:cNvCxnSpPr>
            <a:cxnSpLocks/>
          </p:cNvCxnSpPr>
          <p:nvPr/>
        </p:nvCxnSpPr>
        <p:spPr>
          <a:xfrm>
            <a:off x="2054523" y="2004814"/>
            <a:ext cx="0" cy="316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C108ACF8-F501-E997-C5D3-3286529AB3F6}"/>
              </a:ext>
            </a:extLst>
          </p:cNvPr>
          <p:cNvCxnSpPr>
            <a:cxnSpLocks/>
          </p:cNvCxnSpPr>
          <p:nvPr/>
        </p:nvCxnSpPr>
        <p:spPr>
          <a:xfrm>
            <a:off x="729728" y="2604190"/>
            <a:ext cx="0" cy="316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B4A8CD1A-CCA1-33A1-927E-9A0FA4FD1B96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886164" y="2579070"/>
            <a:ext cx="663166" cy="302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31D0790B-B99B-6842-C719-0E19BCB85265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1298588" y="2583437"/>
            <a:ext cx="1736739" cy="333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" name="Connecteur : en angle 66">
            <a:extLst>
              <a:ext uri="{FF2B5EF4-FFF2-40B4-BE49-F238E27FC236}">
                <a16:creationId xmlns:a16="http://schemas.microsoft.com/office/drawing/2014/main" id="{0563807F-8ABE-AA0B-D3FA-C375DBFA1463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1483932" y="1398861"/>
            <a:ext cx="3707192" cy="2090381"/>
          </a:xfrm>
          <a:prstGeom prst="bentConnector3">
            <a:avLst>
              <a:gd name="adj1" fmla="val 99879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BD669A1B-8185-D677-0216-DD1481CBF921}"/>
              </a:ext>
            </a:extLst>
          </p:cNvPr>
          <p:cNvSpPr/>
          <p:nvPr/>
        </p:nvSpPr>
        <p:spPr>
          <a:xfrm>
            <a:off x="5650472" y="2275760"/>
            <a:ext cx="2206418" cy="297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Région adjoint (sous région/réseau)</a:t>
            </a:r>
          </a:p>
        </p:txBody>
      </p: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B85D3D6C-A798-5400-1AD2-9AC49C3D64C4}"/>
              </a:ext>
            </a:extLst>
          </p:cNvPr>
          <p:cNvCxnSpPr>
            <a:cxnSpLocks/>
            <a:stCxn id="49" idx="2"/>
            <a:endCxn id="79" idx="0"/>
          </p:cNvCxnSpPr>
          <p:nvPr/>
        </p:nvCxnSpPr>
        <p:spPr>
          <a:xfrm>
            <a:off x="6744364" y="1653758"/>
            <a:ext cx="9317" cy="62200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FE07807A-7E71-DFC5-1270-B94FA357C068}"/>
              </a:ext>
            </a:extLst>
          </p:cNvPr>
          <p:cNvSpPr/>
          <p:nvPr/>
        </p:nvSpPr>
        <p:spPr>
          <a:xfrm>
            <a:off x="8444268" y="1971915"/>
            <a:ext cx="2206418" cy="297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Région adjoint (sous région/réseau)</a:t>
            </a:r>
          </a:p>
        </p:txBody>
      </p: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CF001065-583C-40D0-D97D-4222280CE053}"/>
              </a:ext>
            </a:extLst>
          </p:cNvPr>
          <p:cNvCxnSpPr>
            <a:cxnSpLocks/>
          </p:cNvCxnSpPr>
          <p:nvPr/>
        </p:nvCxnSpPr>
        <p:spPr>
          <a:xfrm>
            <a:off x="9508771" y="1653758"/>
            <a:ext cx="0" cy="33016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4079">
            <a:extLst>
              <a:ext uri="{FF2B5EF4-FFF2-40B4-BE49-F238E27FC236}">
                <a16:creationId xmlns:a16="http://schemas.microsoft.com/office/drawing/2014/main" id="{65F16169-3810-D3C9-96FE-8D4FAE1EDB5F}"/>
              </a:ext>
            </a:extLst>
          </p:cNvPr>
          <p:cNvSpPr txBox="1"/>
          <p:nvPr/>
        </p:nvSpPr>
        <p:spPr>
          <a:xfrm>
            <a:off x="3139643" y="6567744"/>
            <a:ext cx="90881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171446" indent="-171446" defTabSz="457189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* Les animateurs CEMM et CAF sont rattaché</a:t>
            </a:r>
            <a:r>
              <a:rPr lang="fr-FR" sz="900" dirty="0" err="1">
                <a:solidFill>
                  <a:prstClr val="white">
                    <a:lumMod val="50000"/>
                  </a:prstClr>
                </a:solidFill>
                <a:latin typeface="Calibri Light" panose="020F0302020204030204"/>
              </a:rPr>
              <a:t>és</a:t>
            </a:r>
            <a:r>
              <a:rPr lang="fr-FR" sz="900" dirty="0">
                <a:solidFill>
                  <a:prstClr val="white">
                    <a:lumMod val="50000"/>
                  </a:prstClr>
                </a:solidFill>
                <a:latin typeface="Calibri Light" panose="020F0302020204030204"/>
              </a:rPr>
              <a:t> au siège, Les animateurs Agence sont rattachés à la région. Les animateurs pourront </a:t>
            </a:r>
            <a:r>
              <a:rPr lang="fr-FR" sz="900" dirty="0" err="1">
                <a:solidFill>
                  <a:prstClr val="white">
                    <a:lumMod val="50000"/>
                  </a:prstClr>
                </a:solidFill>
                <a:latin typeface="Calibri Light" panose="020F0302020204030204"/>
              </a:rPr>
              <a:t>etre</a:t>
            </a:r>
            <a:r>
              <a:rPr lang="fr-FR" sz="900" dirty="0">
                <a:solidFill>
                  <a:prstClr val="white">
                    <a:lumMod val="50000"/>
                  </a:prstClr>
                </a:solidFill>
                <a:latin typeface="Calibri Light" panose="020F0302020204030204"/>
              </a:rPr>
              <a:t> affectés à plusieurs groupes, </a:t>
            </a:r>
            <a:r>
              <a:rPr lang="fr-FR" sz="900" dirty="0" err="1">
                <a:solidFill>
                  <a:prstClr val="white">
                    <a:lumMod val="50000"/>
                  </a:prstClr>
                </a:solidFill>
                <a:latin typeface="Calibri Light" panose="020F0302020204030204"/>
              </a:rPr>
              <a:t>CEMMs</a:t>
            </a:r>
            <a:r>
              <a:rPr lang="fr-FR" sz="900" dirty="0">
                <a:solidFill>
                  <a:prstClr val="white">
                    <a:lumMod val="50000"/>
                  </a:prstClr>
                </a:solidFill>
                <a:latin typeface="Calibri Light" panose="020F0302020204030204"/>
              </a:rPr>
              <a:t> ou </a:t>
            </a:r>
            <a:r>
              <a:rPr lang="fr-FR" sz="900" dirty="0" err="1">
                <a:solidFill>
                  <a:prstClr val="white">
                    <a:lumMod val="50000"/>
                  </a:prstClr>
                </a:solidFill>
                <a:latin typeface="Calibri Light" panose="020F0302020204030204"/>
              </a:rPr>
              <a:t>CAFs</a:t>
            </a:r>
            <a:r>
              <a:rPr lang="fr-FR" sz="900" dirty="0">
                <a:solidFill>
                  <a:prstClr val="white">
                    <a:lumMod val="50000"/>
                  </a:prstClr>
                </a:solidFill>
                <a:latin typeface="Calibri Light" panose="020F0302020204030204"/>
              </a:rPr>
              <a:t>  </a:t>
            </a: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95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227" y="7268"/>
            <a:ext cx="2688772" cy="64499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9D190FF-C44B-F3F6-2867-ECE03B5F516C}"/>
              </a:ext>
            </a:extLst>
          </p:cNvPr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04FD5FF3-7176-468A-18C9-5D52A496CD01}"/>
              </a:ext>
            </a:extLst>
          </p:cNvPr>
          <p:cNvCxnSpPr>
            <a:cxnSpLocks/>
          </p:cNvCxnSpPr>
          <p:nvPr/>
        </p:nvCxnSpPr>
        <p:spPr bwMode="auto">
          <a:xfrm>
            <a:off x="346636" y="711245"/>
            <a:ext cx="11496280" cy="0"/>
          </a:xfrm>
          <a:prstGeom prst="line">
            <a:avLst/>
          </a:prstGeom>
          <a:solidFill>
            <a:srgbClr val="EAEAEA"/>
          </a:solidFill>
          <a:ln w="1905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itre 1">
            <a:extLst>
              <a:ext uri="{FF2B5EF4-FFF2-40B4-BE49-F238E27FC236}">
                <a16:creationId xmlns:a16="http://schemas.microsoft.com/office/drawing/2014/main" id="{8140783C-63EC-AC8F-1B8B-355C8E3478B7}"/>
              </a:ext>
            </a:extLst>
          </p:cNvPr>
          <p:cNvSpPr txBox="1">
            <a:spLocks/>
          </p:cNvSpPr>
          <p:nvPr/>
        </p:nvSpPr>
        <p:spPr>
          <a:xfrm>
            <a:off x="331239" y="20016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0" cap="all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MVP : OBSERVATIONS des pratiques commerciales et managériales  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8A4CC062-B689-DDE8-F46F-874C4172A342}"/>
              </a:ext>
            </a:extLst>
          </p:cNvPr>
          <p:cNvSpPr txBox="1">
            <a:spLocks/>
          </p:cNvSpPr>
          <p:nvPr/>
        </p:nvSpPr>
        <p:spPr>
          <a:xfrm>
            <a:off x="330038" y="43994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all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MAPPING DES PROFILS UTILISATEURS </a:t>
            </a:r>
          </a:p>
        </p:txBody>
      </p:sp>
      <p:graphicFrame>
        <p:nvGraphicFramePr>
          <p:cNvPr id="12" name="Objet 11">
            <a:extLst>
              <a:ext uri="{FF2B5EF4-FFF2-40B4-BE49-F238E27FC236}">
                <a16:creationId xmlns:a16="http://schemas.microsoft.com/office/drawing/2014/main" id="{CE4DE429-B670-9DDE-F883-8E4C7663F9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014646"/>
              </p:ext>
            </p:extLst>
          </p:nvPr>
        </p:nvGraphicFramePr>
        <p:xfrm>
          <a:off x="478155" y="938925"/>
          <a:ext cx="5770563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0407786" imgH="9772848" progId="Excel.Sheet.12">
                  <p:embed/>
                </p:oleObj>
              </mc:Choice>
              <mc:Fallback>
                <p:oleObj name="Worksheet" r:id="rId3" imgW="10407786" imgH="977284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155" y="938925"/>
                        <a:ext cx="5770563" cy="541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40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1239" y="20016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fr-FR" sz="1600" b="1" kern="0" cap="all" dirty="0">
                <a:solidFill>
                  <a:srgbClr val="003366"/>
                </a:solidFill>
                <a:latin typeface="Arial"/>
                <a:ea typeface="+mn-ea"/>
                <a:cs typeface="+mn-cs"/>
              </a:rPr>
              <a:t>MVP : OBSERVATIONS des pratiques commerciales et managériales  </a:t>
            </a:r>
          </a:p>
          <a:p>
            <a:pPr algn="just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OBSERVATIONS</a:t>
            </a:r>
            <a:r>
              <a:rPr lang="fr-FR" sz="1600" b="1" kern="0" cap="all" dirty="0">
                <a:solidFill>
                  <a:srgbClr val="003366"/>
                </a:solidFill>
                <a:latin typeface="Arial"/>
                <a:ea typeface="+mn-ea"/>
                <a:cs typeface="+mn-cs"/>
              </a:rPr>
              <a:t> </a:t>
            </a: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RECENSEES</a:t>
            </a:r>
            <a:r>
              <a:rPr lang="fr-FR" sz="1600" b="1" kern="0" cap="all" dirty="0">
                <a:solidFill>
                  <a:srgbClr val="003366"/>
                </a:solidFill>
                <a:latin typeface="Arial"/>
                <a:ea typeface="+mn-ea"/>
                <a:cs typeface="+mn-cs"/>
              </a:rPr>
              <a:t> </a:t>
            </a: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SUR LE PERIMETRE APPSHEET </a:t>
            </a:r>
          </a:p>
          <a:p>
            <a:pPr algn="just">
              <a:defRPr/>
            </a:pPr>
            <a:endParaRPr lang="fr-FR" sz="1400" b="1" kern="0" cap="all" dirty="0">
              <a:solidFill>
                <a:srgbClr val="3366FF"/>
              </a:solidFill>
              <a:latin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227" y="7268"/>
            <a:ext cx="2688772" cy="644995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4FD5FF3-7176-468A-18C9-5D52A496CD01}"/>
              </a:ext>
            </a:extLst>
          </p:cNvPr>
          <p:cNvCxnSpPr>
            <a:cxnSpLocks/>
          </p:cNvCxnSpPr>
          <p:nvPr/>
        </p:nvCxnSpPr>
        <p:spPr bwMode="auto">
          <a:xfrm>
            <a:off x="346636" y="711245"/>
            <a:ext cx="11496280" cy="0"/>
          </a:xfrm>
          <a:prstGeom prst="line">
            <a:avLst/>
          </a:prstGeom>
          <a:solidFill>
            <a:srgbClr val="EAEAEA"/>
          </a:solidFill>
          <a:ln w="1905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127427"/>
              </p:ext>
            </p:extLst>
          </p:nvPr>
        </p:nvGraphicFramePr>
        <p:xfrm>
          <a:off x="381604" y="920411"/>
          <a:ext cx="11139835" cy="4770253"/>
        </p:xfrm>
        <a:graphic>
          <a:graphicData uri="http://schemas.openxmlformats.org/drawingml/2006/table">
            <a:tbl>
              <a:tblPr/>
              <a:tblGrid>
                <a:gridCol w="2950876">
                  <a:extLst>
                    <a:ext uri="{9D8B030D-6E8A-4147-A177-3AD203B41FA5}">
                      <a16:colId xmlns:a16="http://schemas.microsoft.com/office/drawing/2014/main" val="1607383087"/>
                    </a:ext>
                  </a:extLst>
                </a:gridCol>
                <a:gridCol w="2052320">
                  <a:extLst>
                    <a:ext uri="{9D8B030D-6E8A-4147-A177-3AD203B41FA5}">
                      <a16:colId xmlns:a16="http://schemas.microsoft.com/office/drawing/2014/main" val="2123692163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1336969935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878914820"/>
                    </a:ext>
                  </a:extLst>
                </a:gridCol>
                <a:gridCol w="1544319">
                  <a:extLst>
                    <a:ext uri="{9D8B030D-6E8A-4147-A177-3AD203B41FA5}">
                      <a16:colId xmlns:a16="http://schemas.microsoft.com/office/drawing/2014/main" val="383678566"/>
                    </a:ext>
                  </a:extLst>
                </a:gridCol>
              </a:tblGrid>
              <a:tr h="680287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Modèle d'observation 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Marché 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Cible de l'observation 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Observateur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Commentaire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417113"/>
                  </a:ext>
                </a:extLst>
              </a:tr>
              <a:tr h="485702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Observation Chargé d’affaires (CAE)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Entreprises OU multi marchés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16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Chargé d’affaires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Directeur CAF,</a:t>
                      </a:r>
                      <a:r>
                        <a:rPr lang="fr-FR" sz="1600" b="0" i="0" u="none" strike="noStrike" baseline="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 RCE, animateur, Directeur CEMM </a:t>
                      </a:r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3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0" i="0" u="none" strike="noStrike" kern="1200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475219"/>
                  </a:ext>
                </a:extLst>
              </a:tr>
              <a:tr h="513174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Observation Gestionnaire d’entreprise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Entreprises OU multi marchés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16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Gestionnaire d’entreprises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Directeur CAF,</a:t>
                      </a:r>
                      <a:r>
                        <a:rPr lang="fr-FR" sz="1600" b="0" i="0" u="none" strike="noStrike" baseline="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 RCE, animateur,</a:t>
                      </a:r>
                    </a:p>
                    <a:p>
                      <a:pPr algn="l" rtl="0" fontAlgn="b"/>
                      <a:r>
                        <a:rPr lang="fr-FR" sz="1600" b="0" i="0" u="none" strike="noStrike" baseline="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Directeur CEMM  </a:t>
                      </a:r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9491402"/>
                  </a:ext>
                </a:extLst>
              </a:tr>
              <a:tr h="498175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Observation Cash &amp; Trade </a:t>
                      </a:r>
                      <a:r>
                        <a:rPr lang="fr-F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Specialist</a:t>
                      </a: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Entreprises OU multi marchés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Cash &amp; Trade </a:t>
                      </a:r>
                      <a:r>
                        <a:rPr lang="fr-FR" sz="1600" b="0" i="0" u="none" strike="noStrike" dirty="0" err="1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Specialist</a:t>
                      </a:r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Directeur CAF,</a:t>
                      </a:r>
                      <a:r>
                        <a:rPr lang="fr-FR" sz="1600" b="0" i="0" u="none" strike="noStrike" baseline="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 RCE, animateur,</a:t>
                      </a:r>
                    </a:p>
                    <a:p>
                      <a:pPr algn="l" rtl="0" fontAlgn="b"/>
                      <a:r>
                        <a:rPr lang="fr-FR" sz="1600" b="0" i="0" u="none" strike="noStrike" baseline="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Directeur CEMM  </a:t>
                      </a:r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801410"/>
                  </a:ext>
                </a:extLst>
              </a:tr>
              <a:tr h="368649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Observation Chargé d’appui Commercial (CAC)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Particuliers OU multi marchés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Conseiller</a:t>
                      </a:r>
                      <a:r>
                        <a:rPr lang="fr-FR" sz="1600" b="0" i="0" u="none" strike="noStrike" baseline="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DA, Animateur, </a:t>
                      </a:r>
                      <a:r>
                        <a:rPr lang="fr-FR" sz="1600" b="0" i="0" u="none" strike="noStrike" baseline="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Directeur CEMM </a:t>
                      </a:r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906050"/>
                  </a:ext>
                </a:extLst>
              </a:tr>
              <a:tr h="348722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Observation Directeur d’agence (DA 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Particuliers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Directeur de groupe, Animateur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2567"/>
                  </a:ext>
                </a:extLst>
              </a:tr>
              <a:tr h="334447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Observation Conseiller IGP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Particuliers OU multi marchés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CC IGP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DA, Animateur, </a:t>
                      </a:r>
                      <a:r>
                        <a:rPr lang="fr-FR" sz="1600" b="0" i="0" u="none" strike="noStrike" baseline="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Directeur CEMM </a:t>
                      </a:r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235589"/>
                  </a:ext>
                </a:extLst>
              </a:tr>
              <a:tr h="358686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Observation Conseiller Premium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Particuliers OU multi marchés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CC Premium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DA, Animateur, </a:t>
                      </a:r>
                      <a:r>
                        <a:rPr lang="fr-FR" sz="1600" b="0" i="0" u="none" strike="noStrike" baseline="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Directeur CEMM </a:t>
                      </a:r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830514"/>
                  </a:ext>
                </a:extLst>
              </a:tr>
              <a:tr h="608467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Observation Conseiller PRO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Particuliers OU multi marchés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kern="120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Cc Pro (conseiller clientèle)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DA, Animateur, </a:t>
                      </a:r>
                      <a:r>
                        <a:rPr lang="fr-FR" sz="1600" b="0" i="0" u="none" strike="noStrike" baseline="0" dirty="0">
                          <a:solidFill>
                            <a:srgbClr val="1F497D"/>
                          </a:solidFill>
                          <a:effectLst/>
                          <a:latin typeface="Calibri" panose="020F0502020204030204" pitchFamily="34" charset="0"/>
                        </a:rPr>
                        <a:t>Directeur CEMM </a:t>
                      </a:r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fr-FR" sz="1600" b="0" i="0" u="none" strike="noStrike" dirty="0">
                        <a:solidFill>
                          <a:srgbClr val="1F497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413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183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1239" y="20016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fr-FR" sz="1600" b="1" kern="0" cap="all" dirty="0">
                <a:solidFill>
                  <a:srgbClr val="003366"/>
                </a:solidFill>
                <a:latin typeface="Arial"/>
                <a:ea typeface="+mn-ea"/>
                <a:cs typeface="+mn-cs"/>
              </a:rPr>
              <a:t>MVP : OBSERVATIONS des pratiques commerciales et managériales  </a:t>
            </a:r>
          </a:p>
          <a:p>
            <a:pPr algn="just">
              <a:defRPr/>
            </a:pPr>
            <a:endParaRPr lang="fr-FR" sz="1400" b="1" kern="0" cap="all" dirty="0">
              <a:solidFill>
                <a:srgbClr val="3366FF"/>
              </a:solidFill>
              <a:latin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227" y="7268"/>
            <a:ext cx="2688772" cy="644995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4FD5FF3-7176-468A-18C9-5D52A496CD01}"/>
              </a:ext>
            </a:extLst>
          </p:cNvPr>
          <p:cNvCxnSpPr>
            <a:cxnSpLocks/>
          </p:cNvCxnSpPr>
          <p:nvPr/>
        </p:nvCxnSpPr>
        <p:spPr bwMode="auto">
          <a:xfrm>
            <a:off x="346636" y="711245"/>
            <a:ext cx="11496280" cy="0"/>
          </a:xfrm>
          <a:prstGeom prst="line">
            <a:avLst/>
          </a:prstGeom>
          <a:solidFill>
            <a:srgbClr val="EAEAEA"/>
          </a:solidFill>
          <a:ln w="1905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1238" y="45204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REGLES DE GESTION: CONSULTATION DES MODELES ET SAISIE DES OBSERVATIONS 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4E0FCAF-C0FC-5AC1-B74A-16AD9D4AE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846373"/>
              </p:ext>
            </p:extLst>
          </p:nvPr>
        </p:nvGraphicFramePr>
        <p:xfrm>
          <a:off x="395338" y="1076801"/>
          <a:ext cx="11398878" cy="3614036"/>
        </p:xfrm>
        <a:graphic>
          <a:graphicData uri="http://schemas.openxmlformats.org/drawingml/2006/table">
            <a:tbl>
              <a:tblPr/>
              <a:tblGrid>
                <a:gridCol w="1040285">
                  <a:extLst>
                    <a:ext uri="{9D8B030D-6E8A-4147-A177-3AD203B41FA5}">
                      <a16:colId xmlns:a16="http://schemas.microsoft.com/office/drawing/2014/main" val="2153918300"/>
                    </a:ext>
                  </a:extLst>
                </a:gridCol>
                <a:gridCol w="940684">
                  <a:extLst>
                    <a:ext uri="{9D8B030D-6E8A-4147-A177-3AD203B41FA5}">
                      <a16:colId xmlns:a16="http://schemas.microsoft.com/office/drawing/2014/main" val="8680619"/>
                    </a:ext>
                  </a:extLst>
                </a:gridCol>
                <a:gridCol w="708280">
                  <a:extLst>
                    <a:ext uri="{9D8B030D-6E8A-4147-A177-3AD203B41FA5}">
                      <a16:colId xmlns:a16="http://schemas.microsoft.com/office/drawing/2014/main" val="3935858015"/>
                    </a:ext>
                  </a:extLst>
                </a:gridCol>
                <a:gridCol w="708280">
                  <a:extLst>
                    <a:ext uri="{9D8B030D-6E8A-4147-A177-3AD203B41FA5}">
                      <a16:colId xmlns:a16="http://schemas.microsoft.com/office/drawing/2014/main" val="2830020905"/>
                    </a:ext>
                  </a:extLst>
                </a:gridCol>
                <a:gridCol w="708280">
                  <a:extLst>
                    <a:ext uri="{9D8B030D-6E8A-4147-A177-3AD203B41FA5}">
                      <a16:colId xmlns:a16="http://schemas.microsoft.com/office/drawing/2014/main" val="1892466756"/>
                    </a:ext>
                  </a:extLst>
                </a:gridCol>
                <a:gridCol w="708280">
                  <a:extLst>
                    <a:ext uri="{9D8B030D-6E8A-4147-A177-3AD203B41FA5}">
                      <a16:colId xmlns:a16="http://schemas.microsoft.com/office/drawing/2014/main" val="3476559678"/>
                    </a:ext>
                  </a:extLst>
                </a:gridCol>
                <a:gridCol w="708280">
                  <a:extLst>
                    <a:ext uri="{9D8B030D-6E8A-4147-A177-3AD203B41FA5}">
                      <a16:colId xmlns:a16="http://schemas.microsoft.com/office/drawing/2014/main" val="1748346287"/>
                    </a:ext>
                  </a:extLst>
                </a:gridCol>
                <a:gridCol w="708280">
                  <a:extLst>
                    <a:ext uri="{9D8B030D-6E8A-4147-A177-3AD203B41FA5}">
                      <a16:colId xmlns:a16="http://schemas.microsoft.com/office/drawing/2014/main" val="3384011134"/>
                    </a:ext>
                  </a:extLst>
                </a:gridCol>
                <a:gridCol w="708280">
                  <a:extLst>
                    <a:ext uri="{9D8B030D-6E8A-4147-A177-3AD203B41FA5}">
                      <a16:colId xmlns:a16="http://schemas.microsoft.com/office/drawing/2014/main" val="458055765"/>
                    </a:ext>
                  </a:extLst>
                </a:gridCol>
                <a:gridCol w="708280">
                  <a:extLst>
                    <a:ext uri="{9D8B030D-6E8A-4147-A177-3AD203B41FA5}">
                      <a16:colId xmlns:a16="http://schemas.microsoft.com/office/drawing/2014/main" val="1390104643"/>
                    </a:ext>
                  </a:extLst>
                </a:gridCol>
                <a:gridCol w="796814">
                  <a:extLst>
                    <a:ext uri="{9D8B030D-6E8A-4147-A177-3AD203B41FA5}">
                      <a16:colId xmlns:a16="http://schemas.microsoft.com/office/drawing/2014/main" val="677576426"/>
                    </a:ext>
                  </a:extLst>
                </a:gridCol>
                <a:gridCol w="708280">
                  <a:extLst>
                    <a:ext uri="{9D8B030D-6E8A-4147-A177-3AD203B41FA5}">
                      <a16:colId xmlns:a16="http://schemas.microsoft.com/office/drawing/2014/main" val="2360926091"/>
                    </a:ext>
                  </a:extLst>
                </a:gridCol>
                <a:gridCol w="708280">
                  <a:extLst>
                    <a:ext uri="{9D8B030D-6E8A-4147-A177-3AD203B41FA5}">
                      <a16:colId xmlns:a16="http://schemas.microsoft.com/office/drawing/2014/main" val="2514395771"/>
                    </a:ext>
                  </a:extLst>
                </a:gridCol>
                <a:gridCol w="830015">
                  <a:extLst>
                    <a:ext uri="{9D8B030D-6E8A-4147-A177-3AD203B41FA5}">
                      <a16:colId xmlns:a16="http://schemas.microsoft.com/office/drawing/2014/main" val="3641484266"/>
                    </a:ext>
                  </a:extLst>
                </a:gridCol>
                <a:gridCol w="708280">
                  <a:extLst>
                    <a:ext uri="{9D8B030D-6E8A-4147-A177-3AD203B41FA5}">
                      <a16:colId xmlns:a16="http://schemas.microsoft.com/office/drawing/2014/main" val="3258048325"/>
                    </a:ext>
                  </a:extLst>
                </a:gridCol>
              </a:tblGrid>
              <a:tr h="827314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Formulaire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Marché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Directeur CAF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RCE (CAF)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Directeur d'agence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Directeur de Groupe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Animateur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Directeur CEMM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RCP (Agence)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Coordinateur commercial central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 Conseiller (Agence)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 Chargé d'appui commercial (Agence)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Directeur CEMM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Gestionnaire entreprise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Cash &amp; Trade Specialist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576746"/>
                  </a:ext>
                </a:extLst>
              </a:tr>
              <a:tr h="232388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CAE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2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Entreprises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739009"/>
                  </a:ext>
                </a:extLst>
              </a:tr>
              <a:tr h="308225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CCE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2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Entreprises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54483"/>
                  </a:ext>
                </a:extLst>
              </a:tr>
              <a:tr h="201386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CTS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2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Entreprises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938811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CAC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2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Particuliers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692167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DA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2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Particuliers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433881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CC IGP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Particuliers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729383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CC PREMIUM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Particuliers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204272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CC PRO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Particuliers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777097"/>
                  </a:ext>
                </a:extLst>
              </a:tr>
            </a:tbl>
          </a:graphicData>
        </a:graphic>
      </p:graphicFrame>
      <p:graphicFrame>
        <p:nvGraphicFramePr>
          <p:cNvPr id="2" name="Objet 1">
            <a:extLst>
              <a:ext uri="{FF2B5EF4-FFF2-40B4-BE49-F238E27FC236}">
                <a16:creationId xmlns:a16="http://schemas.microsoft.com/office/drawing/2014/main" id="{FE964668-15AE-AF4C-AA0B-E50C071F1B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411548"/>
              </p:ext>
            </p:extLst>
          </p:nvPr>
        </p:nvGraphicFramePr>
        <p:xfrm>
          <a:off x="633095" y="5215370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597" imgH="806311" progId="Excel.Sheet.12">
                  <p:embed/>
                </p:oleObj>
              </mc:Choice>
              <mc:Fallback>
                <p:oleObj name="Worksheet" showAsIcon="1" r:id="rId3" imgW="914597" imgH="806311" progId="Excel.Sheet.12">
                  <p:embed/>
                  <p:pic>
                    <p:nvPicPr>
                      <p:cNvPr id="3" name="Objet 2">
                        <a:extLst>
                          <a:ext uri="{FF2B5EF4-FFF2-40B4-BE49-F238E27FC236}">
                            <a16:creationId xmlns:a16="http://schemas.microsoft.com/office/drawing/2014/main" id="{A9546A07-423D-EE52-53F2-4D0883DD3B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3095" y="5215370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7A5A3B57-D256-47F6-471E-05CBABF6D1FC}"/>
              </a:ext>
            </a:extLst>
          </p:cNvPr>
          <p:cNvSpPr txBox="1"/>
          <p:nvPr/>
        </p:nvSpPr>
        <p:spPr>
          <a:xfrm>
            <a:off x="331238" y="491789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 dirty="0">
                <a:solidFill>
                  <a:schemeClr val="tx2"/>
                </a:solidFill>
                <a:latin typeface="Aptos Narrow"/>
              </a:rPr>
              <a:t>Règles validées par Amine call du 17.03 </a:t>
            </a:r>
          </a:p>
        </p:txBody>
      </p:sp>
    </p:spTree>
    <p:extLst>
      <p:ext uri="{BB962C8B-B14F-4D97-AF65-F5344CB8AC3E}">
        <p14:creationId xmlns:p14="http://schemas.microsoft.com/office/powerpoint/2010/main" val="264730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1239" y="20016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fr-FR" sz="1600" b="1" kern="0" cap="all" dirty="0">
                <a:solidFill>
                  <a:srgbClr val="003366"/>
                </a:solidFill>
                <a:latin typeface="Arial"/>
                <a:ea typeface="+mn-ea"/>
                <a:cs typeface="+mn-cs"/>
              </a:rPr>
              <a:t>MVP : OBSERVATIONS des pratiques commerciales et managériales  </a:t>
            </a:r>
          </a:p>
          <a:p>
            <a:pPr algn="just">
              <a:defRPr/>
            </a:pPr>
            <a:endParaRPr lang="fr-FR" sz="1600" b="1" kern="0" cap="all" dirty="0">
              <a:solidFill>
                <a:srgbClr val="003366"/>
              </a:solidFill>
              <a:latin typeface="Arial"/>
              <a:ea typeface="+mn-ea"/>
              <a:cs typeface="+mn-cs"/>
            </a:endParaRPr>
          </a:p>
          <a:p>
            <a:pPr algn="just">
              <a:defRPr/>
            </a:pPr>
            <a:endParaRPr lang="fr-FR" sz="1600" b="1" kern="0" cap="all" dirty="0">
              <a:solidFill>
                <a:srgbClr val="003366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227" y="7268"/>
            <a:ext cx="2688772" cy="644995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4FD5FF3-7176-468A-18C9-5D52A496CD01}"/>
              </a:ext>
            </a:extLst>
          </p:cNvPr>
          <p:cNvCxnSpPr>
            <a:cxnSpLocks/>
          </p:cNvCxnSpPr>
          <p:nvPr/>
        </p:nvCxnSpPr>
        <p:spPr bwMode="auto">
          <a:xfrm>
            <a:off x="346636" y="711245"/>
            <a:ext cx="11496280" cy="0"/>
          </a:xfrm>
          <a:prstGeom prst="line">
            <a:avLst/>
          </a:prstGeom>
          <a:solidFill>
            <a:srgbClr val="EAEAEA"/>
          </a:solidFill>
          <a:ln w="1905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39" name="Tableau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107487"/>
              </p:ext>
            </p:extLst>
          </p:nvPr>
        </p:nvGraphicFramePr>
        <p:xfrm>
          <a:off x="452119" y="3960313"/>
          <a:ext cx="8613867" cy="104221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13867">
                  <a:extLst>
                    <a:ext uri="{9D8B030D-6E8A-4147-A177-3AD203B41FA5}">
                      <a16:colId xmlns:a16="http://schemas.microsoft.com/office/drawing/2014/main" val="2636975847"/>
                    </a:ext>
                  </a:extLst>
                </a:gridCol>
              </a:tblGrid>
              <a:tr h="285297"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fr-F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Aptos Narrow"/>
                        </a:rPr>
                        <a:t>Permettre  aux utilisateurs </a:t>
                      </a:r>
                      <a:r>
                        <a:rPr lang="fr-FR" sz="1200" b="0" i="0" u="none" strike="noStrike" baseline="0" dirty="0">
                          <a:solidFill>
                            <a:schemeClr val="tx2"/>
                          </a:solidFill>
                          <a:effectLst/>
                          <a:latin typeface="Aptos Narrow"/>
                        </a:rPr>
                        <a:t>de consulter l’historique des observations qu’ils ont eux-mêmes  saisies uniquement . </a:t>
                      </a:r>
                      <a:endParaRPr lang="fr-FR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9347953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endParaRPr lang="fr-FR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87645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/>
                      <a:endParaRPr lang="fr-FR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854481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/>
                      <a:endParaRPr lang="fr-FR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0654698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/>
                      <a:endParaRPr lang="fr-FR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1621634"/>
                  </a:ext>
                </a:extLst>
              </a:tr>
            </a:tbl>
          </a:graphicData>
        </a:graphic>
      </p:graphicFrame>
      <p:sp>
        <p:nvSpPr>
          <p:cNvPr id="8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1238" y="45204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REGLES DE GESTION: CONSULTATION de l’HISTORIQUE DES OBSERVATIONS 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AC738F7A-B810-DDD2-36B4-FB84D5729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91414"/>
              </p:ext>
            </p:extLst>
          </p:nvPr>
        </p:nvGraphicFramePr>
        <p:xfrm>
          <a:off x="452119" y="1199855"/>
          <a:ext cx="11390799" cy="2271849"/>
        </p:xfrm>
        <a:graphic>
          <a:graphicData uri="http://schemas.openxmlformats.org/drawingml/2006/table">
            <a:tbl>
              <a:tblPr/>
              <a:tblGrid>
                <a:gridCol w="1370198">
                  <a:extLst>
                    <a:ext uri="{9D8B030D-6E8A-4147-A177-3AD203B41FA5}">
                      <a16:colId xmlns:a16="http://schemas.microsoft.com/office/drawing/2014/main" val="2156679775"/>
                    </a:ext>
                  </a:extLst>
                </a:gridCol>
                <a:gridCol w="740519">
                  <a:extLst>
                    <a:ext uri="{9D8B030D-6E8A-4147-A177-3AD203B41FA5}">
                      <a16:colId xmlns:a16="http://schemas.microsoft.com/office/drawing/2014/main" val="2806670607"/>
                    </a:ext>
                  </a:extLst>
                </a:gridCol>
                <a:gridCol w="754670">
                  <a:extLst>
                    <a:ext uri="{9D8B030D-6E8A-4147-A177-3AD203B41FA5}">
                      <a16:colId xmlns:a16="http://schemas.microsoft.com/office/drawing/2014/main" val="1822258340"/>
                    </a:ext>
                  </a:extLst>
                </a:gridCol>
                <a:gridCol w="754670">
                  <a:extLst>
                    <a:ext uri="{9D8B030D-6E8A-4147-A177-3AD203B41FA5}">
                      <a16:colId xmlns:a16="http://schemas.microsoft.com/office/drawing/2014/main" val="1380616176"/>
                    </a:ext>
                  </a:extLst>
                </a:gridCol>
                <a:gridCol w="754670">
                  <a:extLst>
                    <a:ext uri="{9D8B030D-6E8A-4147-A177-3AD203B41FA5}">
                      <a16:colId xmlns:a16="http://schemas.microsoft.com/office/drawing/2014/main" val="2964310702"/>
                    </a:ext>
                  </a:extLst>
                </a:gridCol>
                <a:gridCol w="754670">
                  <a:extLst>
                    <a:ext uri="{9D8B030D-6E8A-4147-A177-3AD203B41FA5}">
                      <a16:colId xmlns:a16="http://schemas.microsoft.com/office/drawing/2014/main" val="953378832"/>
                    </a:ext>
                  </a:extLst>
                </a:gridCol>
                <a:gridCol w="754670">
                  <a:extLst>
                    <a:ext uri="{9D8B030D-6E8A-4147-A177-3AD203B41FA5}">
                      <a16:colId xmlns:a16="http://schemas.microsoft.com/office/drawing/2014/main" val="3643122612"/>
                    </a:ext>
                  </a:extLst>
                </a:gridCol>
                <a:gridCol w="754670">
                  <a:extLst>
                    <a:ext uri="{9D8B030D-6E8A-4147-A177-3AD203B41FA5}">
                      <a16:colId xmlns:a16="http://schemas.microsoft.com/office/drawing/2014/main" val="1985226981"/>
                    </a:ext>
                  </a:extLst>
                </a:gridCol>
                <a:gridCol w="754670">
                  <a:extLst>
                    <a:ext uri="{9D8B030D-6E8A-4147-A177-3AD203B41FA5}">
                      <a16:colId xmlns:a16="http://schemas.microsoft.com/office/drawing/2014/main" val="1592920295"/>
                    </a:ext>
                  </a:extLst>
                </a:gridCol>
                <a:gridCol w="849003">
                  <a:extLst>
                    <a:ext uri="{9D8B030D-6E8A-4147-A177-3AD203B41FA5}">
                      <a16:colId xmlns:a16="http://schemas.microsoft.com/office/drawing/2014/main" val="81649978"/>
                    </a:ext>
                  </a:extLst>
                </a:gridCol>
                <a:gridCol w="754670">
                  <a:extLst>
                    <a:ext uri="{9D8B030D-6E8A-4147-A177-3AD203B41FA5}">
                      <a16:colId xmlns:a16="http://schemas.microsoft.com/office/drawing/2014/main" val="684019387"/>
                    </a:ext>
                  </a:extLst>
                </a:gridCol>
                <a:gridCol w="754670">
                  <a:extLst>
                    <a:ext uri="{9D8B030D-6E8A-4147-A177-3AD203B41FA5}">
                      <a16:colId xmlns:a16="http://schemas.microsoft.com/office/drawing/2014/main" val="377620242"/>
                    </a:ext>
                  </a:extLst>
                </a:gridCol>
                <a:gridCol w="884379">
                  <a:extLst>
                    <a:ext uri="{9D8B030D-6E8A-4147-A177-3AD203B41FA5}">
                      <a16:colId xmlns:a16="http://schemas.microsoft.com/office/drawing/2014/main" val="1184676208"/>
                    </a:ext>
                  </a:extLst>
                </a:gridCol>
                <a:gridCol w="754670">
                  <a:extLst>
                    <a:ext uri="{9D8B030D-6E8A-4147-A177-3AD203B41FA5}">
                      <a16:colId xmlns:a16="http://schemas.microsoft.com/office/drawing/2014/main" val="121388494"/>
                    </a:ext>
                  </a:extLst>
                </a:gridCol>
              </a:tblGrid>
              <a:tr h="827314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Formulaire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Marché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Directeur CAF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RCE (CAF)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Directeur d'agence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Directeur de Groupe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Animateur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RCP (Agence)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Coordinateur commercial central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 Conseiller (Agence)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 Chargé d'appui commercial (Agence)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Directeur CEMM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Gestionnaire entreprise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Cash &amp; Trade Specialist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434982"/>
                  </a:ext>
                </a:extLst>
              </a:tr>
              <a:tr h="201386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Résultats CAE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2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Entreprises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533643"/>
                  </a:ext>
                </a:extLst>
              </a:tr>
              <a:tr h="201386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Résultats CCE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2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Entreprises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9766"/>
                  </a:ext>
                </a:extLst>
              </a:tr>
              <a:tr h="201386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Résultats CTS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2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Entreprises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082076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Résultats Observation 1 (CAC)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2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Particuliers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056328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Résultats Observation 2 (DA)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2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Particuliers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A3A0A6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621922"/>
                  </a:ext>
                </a:extLst>
              </a:tr>
            </a:tbl>
          </a:graphicData>
        </a:graphic>
      </p:graphicFrame>
      <p:graphicFrame>
        <p:nvGraphicFramePr>
          <p:cNvPr id="2" name="Objet 1">
            <a:extLst>
              <a:ext uri="{FF2B5EF4-FFF2-40B4-BE49-F238E27FC236}">
                <a16:creationId xmlns:a16="http://schemas.microsoft.com/office/drawing/2014/main" id="{9BEC03CF-6C31-8892-2D3C-61B70E827C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891157"/>
              </p:ext>
            </p:extLst>
          </p:nvPr>
        </p:nvGraphicFramePr>
        <p:xfrm>
          <a:off x="795655" y="5002078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597" imgH="806311" progId="Excel.Sheet.12">
                  <p:embed/>
                </p:oleObj>
              </mc:Choice>
              <mc:Fallback>
                <p:oleObj name="Worksheet" showAsIcon="1" r:id="rId3" imgW="914597" imgH="806311" progId="Excel.Sheet.12">
                  <p:embed/>
                  <p:pic>
                    <p:nvPicPr>
                      <p:cNvPr id="3" name="Objet 2">
                        <a:extLst>
                          <a:ext uri="{FF2B5EF4-FFF2-40B4-BE49-F238E27FC236}">
                            <a16:creationId xmlns:a16="http://schemas.microsoft.com/office/drawing/2014/main" id="{A9546A07-423D-EE52-53F2-4D0883DD3B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5655" y="5002078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71A887F8-1234-B1DB-DB7F-F5C98792FEB2}"/>
              </a:ext>
            </a:extLst>
          </p:cNvPr>
          <p:cNvSpPr txBox="1"/>
          <p:nvPr/>
        </p:nvSpPr>
        <p:spPr>
          <a:xfrm>
            <a:off x="346636" y="472507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 dirty="0">
                <a:solidFill>
                  <a:schemeClr val="tx2"/>
                </a:solidFill>
                <a:latin typeface="Aptos Narrow"/>
              </a:rPr>
              <a:t>Règles validées par Amine call du 17.03 </a:t>
            </a:r>
          </a:p>
        </p:txBody>
      </p:sp>
    </p:spTree>
    <p:extLst>
      <p:ext uri="{BB962C8B-B14F-4D97-AF65-F5344CB8AC3E}">
        <p14:creationId xmlns:p14="http://schemas.microsoft.com/office/powerpoint/2010/main" val="4096107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1239" y="20016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fr-FR" sz="1600" b="1" kern="0" cap="all" dirty="0">
                <a:solidFill>
                  <a:srgbClr val="003366"/>
                </a:solidFill>
                <a:latin typeface="Arial"/>
                <a:ea typeface="+mn-ea"/>
                <a:cs typeface="+mn-cs"/>
              </a:rPr>
              <a:t>MVP : OBSERVATIONS des pratiques commerciales et managériales  </a:t>
            </a:r>
          </a:p>
          <a:p>
            <a:pPr algn="just">
              <a:defRPr/>
            </a:pPr>
            <a:endParaRPr lang="fr-FR" sz="1600" b="1" kern="0" cap="all" dirty="0">
              <a:solidFill>
                <a:srgbClr val="003366"/>
              </a:solidFill>
              <a:latin typeface="Arial"/>
              <a:ea typeface="+mn-ea"/>
              <a:cs typeface="+mn-cs"/>
            </a:endParaRPr>
          </a:p>
          <a:p>
            <a:pPr algn="just">
              <a:defRPr/>
            </a:pPr>
            <a:endParaRPr lang="fr-FR" sz="1600" b="1" kern="0" cap="all" dirty="0">
              <a:solidFill>
                <a:srgbClr val="003366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227" y="7268"/>
            <a:ext cx="2688772" cy="644995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4FD5FF3-7176-468A-18C9-5D52A496CD01}"/>
              </a:ext>
            </a:extLst>
          </p:cNvPr>
          <p:cNvCxnSpPr>
            <a:cxnSpLocks/>
          </p:cNvCxnSpPr>
          <p:nvPr/>
        </p:nvCxnSpPr>
        <p:spPr bwMode="auto">
          <a:xfrm>
            <a:off x="346636" y="711245"/>
            <a:ext cx="11496280" cy="0"/>
          </a:xfrm>
          <a:prstGeom prst="line">
            <a:avLst/>
          </a:prstGeom>
          <a:solidFill>
            <a:srgbClr val="EAEAEA"/>
          </a:solidFill>
          <a:ln w="1905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31238" y="452045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fr-FR" sz="1400" b="1" kern="0" cap="all" dirty="0">
                <a:solidFill>
                  <a:srgbClr val="3366FF"/>
                </a:solidFill>
                <a:latin typeface="Arial"/>
              </a:rPr>
              <a:t>HISTORIQUE DES OBSERVATIONS/ STATUTS et ACTION DES OBSERVATIONS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7CBE6F8-F528-16C8-C218-E7E90AC0D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848548"/>
              </p:ext>
            </p:extLst>
          </p:nvPr>
        </p:nvGraphicFramePr>
        <p:xfrm>
          <a:off x="379773" y="913301"/>
          <a:ext cx="9615857" cy="1160065"/>
        </p:xfrm>
        <a:graphic>
          <a:graphicData uri="http://schemas.openxmlformats.org/drawingml/2006/table">
            <a:tbl>
              <a:tblPr/>
              <a:tblGrid>
                <a:gridCol w="2398014">
                  <a:extLst>
                    <a:ext uri="{9D8B030D-6E8A-4147-A177-3AD203B41FA5}">
                      <a16:colId xmlns:a16="http://schemas.microsoft.com/office/drawing/2014/main" val="2156679775"/>
                    </a:ext>
                  </a:extLst>
                </a:gridCol>
                <a:gridCol w="4205786">
                  <a:extLst>
                    <a:ext uri="{9D8B030D-6E8A-4147-A177-3AD203B41FA5}">
                      <a16:colId xmlns:a16="http://schemas.microsoft.com/office/drawing/2014/main" val="2806670607"/>
                    </a:ext>
                  </a:extLst>
                </a:gridCol>
                <a:gridCol w="3012057">
                  <a:extLst>
                    <a:ext uri="{9D8B030D-6E8A-4147-A177-3AD203B41FA5}">
                      <a16:colId xmlns:a16="http://schemas.microsoft.com/office/drawing/2014/main" val="1822258340"/>
                    </a:ext>
                  </a:extLst>
                </a:gridCol>
              </a:tblGrid>
              <a:tr h="417659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Statut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Phase 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Description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434982"/>
                  </a:ext>
                </a:extLst>
              </a:tr>
              <a:tr h="201386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SOUMISE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Soumission d’une observation dument renseignée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i="0" u="none" strike="noStrike" kern="1200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Validé par Amine call du 17.03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53364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ANNULEE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Annulation d’une observation soumise dans un délai de 24 heures à partir de la date de saisie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kern="1200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Validé par Amine call du 17.03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9766"/>
                  </a:ext>
                </a:extLst>
              </a:tr>
            </a:tbl>
          </a:graphicData>
        </a:graphic>
      </p:graphicFrame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CF710934-3B5A-17BA-94D2-68C43B88E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353179"/>
              </p:ext>
            </p:extLst>
          </p:nvPr>
        </p:nvGraphicFramePr>
        <p:xfrm>
          <a:off x="355506" y="2634617"/>
          <a:ext cx="9640125" cy="2192109"/>
        </p:xfrm>
        <a:graphic>
          <a:graphicData uri="http://schemas.openxmlformats.org/drawingml/2006/table">
            <a:tbl>
              <a:tblPr/>
              <a:tblGrid>
                <a:gridCol w="2404066">
                  <a:extLst>
                    <a:ext uri="{9D8B030D-6E8A-4147-A177-3AD203B41FA5}">
                      <a16:colId xmlns:a16="http://schemas.microsoft.com/office/drawing/2014/main" val="2156679775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806670607"/>
                    </a:ext>
                  </a:extLst>
                </a:gridCol>
                <a:gridCol w="3019659">
                  <a:extLst>
                    <a:ext uri="{9D8B030D-6E8A-4147-A177-3AD203B41FA5}">
                      <a16:colId xmlns:a16="http://schemas.microsoft.com/office/drawing/2014/main" val="1822258340"/>
                    </a:ext>
                  </a:extLst>
                </a:gridCol>
              </a:tblGrid>
              <a:tr h="657980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Actions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Phase 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Description </a:t>
                      </a:r>
                    </a:p>
                  </a:txBody>
                  <a:tcPr marL="5443" marR="5443" marT="544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434982"/>
                  </a:ext>
                </a:extLst>
              </a:tr>
              <a:tr h="547883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CONSULTER  </a:t>
                      </a:r>
                    </a:p>
                    <a:p>
                      <a:pPr algn="l" rtl="0" fontAlgn="b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Consulter les résultats d’une observation soumise </a:t>
                      </a:r>
                    </a:p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i="0" u="none" strike="noStrike" kern="1200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Validé par Amine call du 17.03 </a:t>
                      </a:r>
                    </a:p>
                    <a:p>
                      <a:pPr algn="l" rtl="0" fontAlgn="b"/>
                      <a:endParaRPr lang="fr-FR" sz="1600" b="0" i="0" u="none" strike="noStrike" kern="1200" dirty="0">
                        <a:solidFill>
                          <a:srgbClr val="44546A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533643"/>
                  </a:ext>
                </a:extLst>
              </a:tr>
              <a:tr h="410557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ANNULER </a:t>
                      </a:r>
                    </a:p>
                    <a:p>
                      <a:pPr algn="l" rtl="0" fontAlgn="b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Annulation d’une observation soumise dans un délai de 24 heures à partir de la date de saisie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i="0" u="none" strike="noStrike" kern="1200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Validé par Amine call du 17.03 </a:t>
                      </a:r>
                    </a:p>
                    <a:p>
                      <a:pPr algn="l" rtl="0" fontAlgn="b"/>
                      <a:endParaRPr lang="fr-FR" sz="1600" b="0" i="0" u="none" strike="noStrike" kern="1200" dirty="0">
                        <a:solidFill>
                          <a:srgbClr val="44546A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9766"/>
                  </a:ext>
                </a:extLst>
              </a:tr>
              <a:tr h="396150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TELECHARGER</a:t>
                      </a:r>
                    </a:p>
                    <a:p>
                      <a:pPr algn="l" rtl="0" fontAlgn="b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600" b="0" i="0" u="none" strike="noStrike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</a:rPr>
                        <a:t>Télécharger les résultats d’une observation soumise 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i="0" u="none" strike="noStrike" kern="1200" dirty="0"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Validé par Amine call du 17.03 </a:t>
                      </a:r>
                    </a:p>
                    <a:p>
                      <a:pPr algn="l" rtl="0" fontAlgn="b"/>
                      <a:endParaRPr lang="fr-FR" sz="1600" b="0" i="0" u="none" strike="noStrike" kern="1200" dirty="0">
                        <a:solidFill>
                          <a:srgbClr val="44546A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258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8051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E6985CBB-89BA-9C7C-95D8-DD6416E9F5E9}"/>
              </a:ext>
            </a:extLst>
          </p:cNvPr>
          <p:cNvSpPr txBox="1">
            <a:spLocks/>
          </p:cNvSpPr>
          <p:nvPr/>
        </p:nvSpPr>
        <p:spPr>
          <a:xfrm>
            <a:off x="382695" y="258999"/>
            <a:ext cx="11511677" cy="259200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fr-FR" sz="1600" b="1" kern="0" cap="all" dirty="0">
                <a:solidFill>
                  <a:srgbClr val="003366"/>
                </a:solidFill>
                <a:latin typeface="Arial"/>
                <a:ea typeface="+mn-ea"/>
                <a:cs typeface="+mn-cs"/>
              </a:rPr>
              <a:t>MVP: Planning PREVISIONNEL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4FD5FF3-7176-468A-18C9-5D52A496CD01}"/>
              </a:ext>
            </a:extLst>
          </p:cNvPr>
          <p:cNvCxnSpPr>
            <a:cxnSpLocks/>
          </p:cNvCxnSpPr>
          <p:nvPr/>
        </p:nvCxnSpPr>
        <p:spPr bwMode="auto">
          <a:xfrm>
            <a:off x="346636" y="711245"/>
            <a:ext cx="11496280" cy="0"/>
          </a:xfrm>
          <a:prstGeom prst="line">
            <a:avLst/>
          </a:prstGeom>
          <a:solidFill>
            <a:srgbClr val="EAEAEA"/>
          </a:solidFill>
          <a:ln w="1905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Image 12">
            <a:extLst>
              <a:ext uri="{FF2B5EF4-FFF2-40B4-BE49-F238E27FC236}">
                <a16:creationId xmlns:a16="http://schemas.microsoft.com/office/drawing/2014/main" id="{AD632931-3301-2E94-4279-24100E3D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227" y="7268"/>
            <a:ext cx="2688772" cy="64499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9D190FF-C44B-F3F6-2867-ECE03B5F516C}"/>
              </a:ext>
            </a:extLst>
          </p:cNvPr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CE8D3971-642D-414D-9138-A03635D46D7F}"/>
              </a:ext>
            </a:extLst>
          </p:cNvPr>
          <p:cNvCxnSpPr>
            <a:cxnSpLocks/>
          </p:cNvCxnSpPr>
          <p:nvPr/>
        </p:nvCxnSpPr>
        <p:spPr>
          <a:xfrm flipV="1">
            <a:off x="2004368" y="1317741"/>
            <a:ext cx="9525803" cy="20318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ZoneTexte 58">
            <a:extLst>
              <a:ext uri="{FF2B5EF4-FFF2-40B4-BE49-F238E27FC236}">
                <a16:creationId xmlns:a16="http://schemas.microsoft.com/office/drawing/2014/main" id="{68FC7FB6-C6CC-4031-1A82-3007861F5EC0}"/>
              </a:ext>
            </a:extLst>
          </p:cNvPr>
          <p:cNvSpPr txBox="1"/>
          <p:nvPr/>
        </p:nvSpPr>
        <p:spPr>
          <a:xfrm>
            <a:off x="4255904" y="815475"/>
            <a:ext cx="912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algn="ctr" defTabSz="457189">
              <a:defRPr sz="1400" b="1">
                <a:solidFill>
                  <a:schemeClr val="tx2"/>
                </a:solidFill>
                <a:latin typeface="Calibri"/>
              </a:defRPr>
            </a:lvl1pPr>
          </a:lstStyle>
          <a:p>
            <a:r>
              <a:rPr lang="fr-FR" dirty="0"/>
              <a:t>Mois 2</a:t>
            </a:r>
          </a:p>
        </p:txBody>
      </p:sp>
      <p:sp>
        <p:nvSpPr>
          <p:cNvPr id="68" name="Étoile : 4 branches 132">
            <a:extLst>
              <a:ext uri="{FF2B5EF4-FFF2-40B4-BE49-F238E27FC236}">
                <a16:creationId xmlns:a16="http://schemas.microsoft.com/office/drawing/2014/main" id="{524C49ED-06A5-C2F9-BD7C-E434AA994E8F}"/>
              </a:ext>
            </a:extLst>
          </p:cNvPr>
          <p:cNvSpPr/>
          <p:nvPr/>
        </p:nvSpPr>
        <p:spPr>
          <a:xfrm>
            <a:off x="7562316" y="2760659"/>
            <a:ext cx="175883" cy="177487"/>
          </a:xfrm>
          <a:prstGeom prst="star4">
            <a:avLst/>
          </a:prstGeom>
          <a:solidFill>
            <a:srgbClr val="FF5D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fr-FR" sz="1351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9150996E-B77A-EB78-44F2-ACC1F570D75D}"/>
              </a:ext>
            </a:extLst>
          </p:cNvPr>
          <p:cNvSpPr txBox="1"/>
          <p:nvPr/>
        </p:nvSpPr>
        <p:spPr>
          <a:xfrm>
            <a:off x="7171607" y="2889088"/>
            <a:ext cx="1062774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>
              <a:defRPr/>
            </a:pPr>
            <a:r>
              <a:rPr lang="fr-FR" sz="825" b="1" dirty="0">
                <a:solidFill>
                  <a:schemeClr val="tx2"/>
                </a:solidFill>
                <a:latin typeface="Calibri"/>
              </a:rPr>
              <a:t>MEP</a:t>
            </a:r>
          </a:p>
          <a:p>
            <a:pPr algn="ctr" defTabSz="457189">
              <a:defRPr/>
            </a:pPr>
            <a:r>
              <a:rPr lang="fr-FR" sz="825" b="1" dirty="0">
                <a:solidFill>
                  <a:schemeClr val="tx2"/>
                </a:solidFill>
                <a:latin typeface="Calibri"/>
              </a:rPr>
              <a:t>Pilote</a:t>
            </a:r>
            <a:endParaRPr lang="fr-FR" sz="825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84" name="Rectangle : coins arrondis 83">
            <a:extLst>
              <a:ext uri="{FF2B5EF4-FFF2-40B4-BE49-F238E27FC236}">
                <a16:creationId xmlns:a16="http://schemas.microsoft.com/office/drawing/2014/main" id="{51B0D946-5369-53A4-7BDB-E21319697C49}"/>
              </a:ext>
            </a:extLst>
          </p:cNvPr>
          <p:cNvSpPr/>
          <p:nvPr/>
        </p:nvSpPr>
        <p:spPr>
          <a:xfrm>
            <a:off x="243912" y="1520793"/>
            <a:ext cx="1758145" cy="776877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r>
              <a:rPr lang="fr-FR" sz="1200" b="1" dirty="0">
                <a:solidFill>
                  <a:prstClr val="white"/>
                </a:solidFill>
                <a:latin typeface="Calibri"/>
              </a:rPr>
              <a:t>Cadrage &amp; Conception</a:t>
            </a:r>
          </a:p>
        </p:txBody>
      </p:sp>
      <p:sp>
        <p:nvSpPr>
          <p:cNvPr id="86" name="Rectangle : coins arrondis 85">
            <a:extLst>
              <a:ext uri="{FF2B5EF4-FFF2-40B4-BE49-F238E27FC236}">
                <a16:creationId xmlns:a16="http://schemas.microsoft.com/office/drawing/2014/main" id="{BE8C27E0-B882-F240-0BB6-90160735B3F2}"/>
              </a:ext>
            </a:extLst>
          </p:cNvPr>
          <p:cNvSpPr/>
          <p:nvPr/>
        </p:nvSpPr>
        <p:spPr>
          <a:xfrm>
            <a:off x="243912" y="2390758"/>
            <a:ext cx="1758144" cy="92488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r>
              <a:rPr lang="fr-FR" sz="1200" b="1" dirty="0">
                <a:solidFill>
                  <a:prstClr val="white"/>
                </a:solidFill>
                <a:latin typeface="Calibri"/>
              </a:rPr>
              <a:t>Mise en œuvre</a:t>
            </a:r>
          </a:p>
        </p:txBody>
      </p:sp>
      <p:sp>
        <p:nvSpPr>
          <p:cNvPr id="88" name="Rectangle : coins arrondis 87">
            <a:extLst>
              <a:ext uri="{FF2B5EF4-FFF2-40B4-BE49-F238E27FC236}">
                <a16:creationId xmlns:a16="http://schemas.microsoft.com/office/drawing/2014/main" id="{770AD8AF-9809-3EFD-B39E-9E5887F474CD}"/>
              </a:ext>
            </a:extLst>
          </p:cNvPr>
          <p:cNvSpPr/>
          <p:nvPr/>
        </p:nvSpPr>
        <p:spPr>
          <a:xfrm>
            <a:off x="251183" y="3455937"/>
            <a:ext cx="1758144" cy="69048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r>
              <a:rPr lang="fr-FR" sz="1200" b="1" dirty="0">
                <a:solidFill>
                  <a:prstClr val="white"/>
                </a:solidFill>
              </a:rPr>
              <a:t>Migration des données</a:t>
            </a:r>
          </a:p>
        </p:txBody>
      </p:sp>
      <p:sp>
        <p:nvSpPr>
          <p:cNvPr id="113" name="Rectangle : coins arrondis 112">
            <a:extLst>
              <a:ext uri="{FF2B5EF4-FFF2-40B4-BE49-F238E27FC236}">
                <a16:creationId xmlns:a16="http://schemas.microsoft.com/office/drawing/2014/main" id="{C4E2E9AF-AAAF-8CA4-B81C-320A3AAC0E1A}"/>
              </a:ext>
            </a:extLst>
          </p:cNvPr>
          <p:cNvSpPr/>
          <p:nvPr/>
        </p:nvSpPr>
        <p:spPr>
          <a:xfrm>
            <a:off x="247531" y="4277986"/>
            <a:ext cx="1756837" cy="735243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r>
              <a:rPr lang="fr-FR" sz="1200" b="1" dirty="0">
                <a:solidFill>
                  <a:prstClr val="white"/>
                </a:solidFill>
                <a:latin typeface="Calibri"/>
              </a:rPr>
              <a:t>Pilote </a:t>
            </a:r>
          </a:p>
        </p:txBody>
      </p:sp>
      <p:sp>
        <p:nvSpPr>
          <p:cNvPr id="115" name="Rectangle : coins arrondis 114">
            <a:extLst>
              <a:ext uri="{FF2B5EF4-FFF2-40B4-BE49-F238E27FC236}">
                <a16:creationId xmlns:a16="http://schemas.microsoft.com/office/drawing/2014/main" id="{D6305E55-C617-7E9A-F84E-3E3A39FDA3A1}"/>
              </a:ext>
            </a:extLst>
          </p:cNvPr>
          <p:cNvSpPr/>
          <p:nvPr/>
        </p:nvSpPr>
        <p:spPr>
          <a:xfrm>
            <a:off x="247531" y="5119563"/>
            <a:ext cx="1758144" cy="774277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r>
              <a:rPr lang="fr-FR" sz="1200" b="1" dirty="0">
                <a:solidFill>
                  <a:prstClr val="white"/>
                </a:solidFill>
                <a:latin typeface="Calibri"/>
              </a:rPr>
              <a:t>Généralisation 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C7F25A0B-65A3-EFA3-0011-96AEB0B90C40}"/>
              </a:ext>
            </a:extLst>
          </p:cNvPr>
          <p:cNvSpPr txBox="1"/>
          <p:nvPr/>
        </p:nvSpPr>
        <p:spPr>
          <a:xfrm>
            <a:off x="5369467" y="815475"/>
            <a:ext cx="952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algn="ctr" defTabSz="457189">
              <a:defRPr sz="1400" b="1">
                <a:solidFill>
                  <a:schemeClr val="tx2"/>
                </a:solidFill>
                <a:latin typeface="Calibri"/>
              </a:defRPr>
            </a:lvl1pPr>
          </a:lstStyle>
          <a:p>
            <a:r>
              <a:rPr lang="fr-FR" dirty="0"/>
              <a:t>Mois 3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075C3767-0DCF-9123-D51A-56509DFD668A}"/>
              </a:ext>
            </a:extLst>
          </p:cNvPr>
          <p:cNvSpPr txBox="1"/>
          <p:nvPr/>
        </p:nvSpPr>
        <p:spPr>
          <a:xfrm>
            <a:off x="6523584" y="817801"/>
            <a:ext cx="874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algn="ctr" defTabSz="457189">
              <a:defRPr sz="1400" b="1">
                <a:solidFill>
                  <a:schemeClr val="tx2"/>
                </a:solidFill>
                <a:latin typeface="Calibri"/>
              </a:defRPr>
            </a:lvl1pPr>
          </a:lstStyle>
          <a:p>
            <a:r>
              <a:rPr lang="fr-FR" dirty="0"/>
              <a:t>Mois 4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E2E8EE5E-F07C-BAB0-9CB8-460FF5FACBAA}"/>
              </a:ext>
            </a:extLst>
          </p:cNvPr>
          <p:cNvSpPr txBox="1"/>
          <p:nvPr/>
        </p:nvSpPr>
        <p:spPr>
          <a:xfrm>
            <a:off x="7601397" y="810143"/>
            <a:ext cx="847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algn="ctr" defTabSz="457189">
              <a:defRPr sz="1400" b="1">
                <a:solidFill>
                  <a:schemeClr val="tx2"/>
                </a:solidFill>
                <a:latin typeface="Calibri"/>
              </a:defRPr>
            </a:lvl1pPr>
          </a:lstStyle>
          <a:p>
            <a:r>
              <a:rPr lang="fr-FR" dirty="0"/>
              <a:t>Mois 5</a:t>
            </a:r>
          </a:p>
        </p:txBody>
      </p:sp>
      <p:sp>
        <p:nvSpPr>
          <p:cNvPr id="32" name="Flèche : chevron 183">
            <a:extLst>
              <a:ext uri="{FF2B5EF4-FFF2-40B4-BE49-F238E27FC236}">
                <a16:creationId xmlns:a16="http://schemas.microsoft.com/office/drawing/2014/main" id="{A1CDBF63-AF39-58DF-320C-048C0353E970}"/>
              </a:ext>
            </a:extLst>
          </p:cNvPr>
          <p:cNvSpPr/>
          <p:nvPr/>
        </p:nvSpPr>
        <p:spPr>
          <a:xfrm>
            <a:off x="3465009" y="2390759"/>
            <a:ext cx="3128083" cy="887692"/>
          </a:xfrm>
          <a:prstGeom prst="chevron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fr-FR" sz="135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2E8EE5E-F07C-BAB0-9CB8-460FF5FACBAA}"/>
              </a:ext>
            </a:extLst>
          </p:cNvPr>
          <p:cNvSpPr txBox="1"/>
          <p:nvPr/>
        </p:nvSpPr>
        <p:spPr>
          <a:xfrm>
            <a:off x="8652632" y="799549"/>
            <a:ext cx="847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algn="ctr" defTabSz="457189">
              <a:defRPr sz="1400" b="1">
                <a:solidFill>
                  <a:schemeClr val="tx2"/>
                </a:solidFill>
                <a:latin typeface="Calibri"/>
              </a:defRPr>
            </a:lvl1pPr>
          </a:lstStyle>
          <a:p>
            <a:r>
              <a:rPr lang="fr-FR" dirty="0"/>
              <a:t>Mois 6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2E8EE5E-F07C-BAB0-9CB8-460FF5FACBAA}"/>
              </a:ext>
            </a:extLst>
          </p:cNvPr>
          <p:cNvSpPr txBox="1"/>
          <p:nvPr/>
        </p:nvSpPr>
        <p:spPr>
          <a:xfrm>
            <a:off x="9703867" y="799550"/>
            <a:ext cx="847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algn="ctr" defTabSz="457189">
              <a:defRPr sz="1400" b="1">
                <a:solidFill>
                  <a:schemeClr val="tx2"/>
                </a:solidFill>
                <a:latin typeface="Calibri"/>
              </a:defRPr>
            </a:lvl1pPr>
          </a:lstStyle>
          <a:p>
            <a:r>
              <a:rPr lang="fr-FR" dirty="0"/>
              <a:t>Mois 7</a:t>
            </a:r>
          </a:p>
        </p:txBody>
      </p:sp>
      <p:sp>
        <p:nvSpPr>
          <p:cNvPr id="35" name="Flèche : chevron 183">
            <a:extLst>
              <a:ext uri="{FF2B5EF4-FFF2-40B4-BE49-F238E27FC236}">
                <a16:creationId xmlns:a16="http://schemas.microsoft.com/office/drawing/2014/main" id="{A1CDBF63-AF39-58DF-320C-048C0353E970}"/>
              </a:ext>
            </a:extLst>
          </p:cNvPr>
          <p:cNvSpPr/>
          <p:nvPr/>
        </p:nvSpPr>
        <p:spPr>
          <a:xfrm>
            <a:off x="2500223" y="1557667"/>
            <a:ext cx="949364" cy="703127"/>
          </a:xfrm>
          <a:prstGeom prst="chevron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fr-FR" sz="135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2236917" y="6145142"/>
            <a:ext cx="1842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fr-FR" sz="10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Cadrage fonctionnel</a:t>
            </a:r>
          </a:p>
        </p:txBody>
      </p:sp>
      <p:sp>
        <p:nvSpPr>
          <p:cNvPr id="38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2234910" y="6381926"/>
            <a:ext cx="1182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defTabSz="457189">
              <a:defRPr sz="100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Parcours UX/UI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14295C1D-3786-877B-3C36-52DFF513B49D}"/>
              </a:ext>
            </a:extLst>
          </p:cNvPr>
          <p:cNvSpPr txBox="1"/>
          <p:nvPr/>
        </p:nvSpPr>
        <p:spPr>
          <a:xfrm>
            <a:off x="3034678" y="823555"/>
            <a:ext cx="1049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>
              <a:defRPr/>
            </a:pPr>
            <a:r>
              <a:rPr lang="fr-FR" sz="1400" b="1" dirty="0">
                <a:solidFill>
                  <a:schemeClr val="tx2"/>
                </a:solidFill>
                <a:latin typeface="Calibri"/>
              </a:rPr>
              <a:t>Mois 1</a:t>
            </a:r>
          </a:p>
        </p:txBody>
      </p:sp>
      <p:cxnSp>
        <p:nvCxnSpPr>
          <p:cNvPr id="5" name="Connecteur droit 4"/>
          <p:cNvCxnSpPr/>
          <p:nvPr/>
        </p:nvCxnSpPr>
        <p:spPr>
          <a:xfrm>
            <a:off x="3417642" y="1338059"/>
            <a:ext cx="37742" cy="444316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Flèche : chevron 183">
            <a:extLst>
              <a:ext uri="{FF2B5EF4-FFF2-40B4-BE49-F238E27FC236}">
                <a16:creationId xmlns:a16="http://schemas.microsoft.com/office/drawing/2014/main" id="{A1CDBF63-AF39-58DF-320C-048C0353E970}"/>
              </a:ext>
            </a:extLst>
          </p:cNvPr>
          <p:cNvSpPr/>
          <p:nvPr/>
        </p:nvSpPr>
        <p:spPr>
          <a:xfrm>
            <a:off x="2564456" y="2383113"/>
            <a:ext cx="1118403" cy="902104"/>
          </a:xfrm>
          <a:prstGeom prst="chevron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fr-FR" sz="135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3827082" y="6131124"/>
            <a:ext cx="25287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fr-FR" sz="9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Préparation des environnements </a:t>
            </a:r>
          </a:p>
        </p:txBody>
      </p:sp>
      <p:cxnSp>
        <p:nvCxnSpPr>
          <p:cNvPr id="48" name="Connecteur droit 47"/>
          <p:cNvCxnSpPr/>
          <p:nvPr/>
        </p:nvCxnSpPr>
        <p:spPr>
          <a:xfrm>
            <a:off x="4470835" y="1354460"/>
            <a:ext cx="37742" cy="444316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/>
        </p:nvCxnSpPr>
        <p:spPr>
          <a:xfrm>
            <a:off x="5574868" y="1345613"/>
            <a:ext cx="37742" cy="444316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>
            <a:off x="6662176" y="1354460"/>
            <a:ext cx="37742" cy="444316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7711742" y="1354460"/>
            <a:ext cx="37742" cy="444316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>
            <a:off x="8745816" y="1338059"/>
            <a:ext cx="37742" cy="444316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Connecteur droit 52"/>
          <p:cNvCxnSpPr/>
          <p:nvPr/>
        </p:nvCxnSpPr>
        <p:spPr>
          <a:xfrm>
            <a:off x="9948642" y="1354460"/>
            <a:ext cx="37742" cy="444316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6094776" y="6452422"/>
            <a:ext cx="10182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fr-FR" sz="9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Recette globale</a:t>
            </a:r>
            <a:r>
              <a:rPr lang="fr-FR" sz="8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" name="Flèche : chevron 183">
            <a:extLst>
              <a:ext uri="{FF2B5EF4-FFF2-40B4-BE49-F238E27FC236}">
                <a16:creationId xmlns:a16="http://schemas.microsoft.com/office/drawing/2014/main" id="{A1CDBF63-AF39-58DF-320C-048C0353E970}"/>
              </a:ext>
            </a:extLst>
          </p:cNvPr>
          <p:cNvSpPr/>
          <p:nvPr/>
        </p:nvSpPr>
        <p:spPr>
          <a:xfrm>
            <a:off x="6373068" y="2379544"/>
            <a:ext cx="1310319" cy="899860"/>
          </a:xfrm>
          <a:prstGeom prst="chevron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fr-FR" sz="135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8025854" y="6464994"/>
            <a:ext cx="13967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fr-FR" sz="8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Tests de sécurité</a:t>
            </a:r>
          </a:p>
        </p:txBody>
      </p:sp>
      <p:sp>
        <p:nvSpPr>
          <p:cNvPr id="58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8035122" y="6198520"/>
            <a:ext cx="11666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fr-FR" sz="8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Préparation à la MEP </a:t>
            </a:r>
          </a:p>
        </p:txBody>
      </p:sp>
      <p:sp>
        <p:nvSpPr>
          <p:cNvPr id="60" name="Flèche : chevron 183">
            <a:extLst>
              <a:ext uri="{FF2B5EF4-FFF2-40B4-BE49-F238E27FC236}">
                <a16:creationId xmlns:a16="http://schemas.microsoft.com/office/drawing/2014/main" id="{A1CDBF63-AF39-58DF-320C-048C0353E970}"/>
              </a:ext>
            </a:extLst>
          </p:cNvPr>
          <p:cNvSpPr/>
          <p:nvPr/>
        </p:nvSpPr>
        <p:spPr>
          <a:xfrm>
            <a:off x="7002659" y="3397141"/>
            <a:ext cx="706580" cy="690486"/>
          </a:xfrm>
          <a:prstGeom prst="chevron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fr-FR" sz="135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2" name="Étoile : 4 branches 132">
            <a:extLst>
              <a:ext uri="{FF2B5EF4-FFF2-40B4-BE49-F238E27FC236}">
                <a16:creationId xmlns:a16="http://schemas.microsoft.com/office/drawing/2014/main" id="{524C49ED-06A5-C2F9-BD7C-E434AA994E8F}"/>
              </a:ext>
            </a:extLst>
          </p:cNvPr>
          <p:cNvSpPr/>
          <p:nvPr/>
        </p:nvSpPr>
        <p:spPr>
          <a:xfrm>
            <a:off x="8035042" y="5248321"/>
            <a:ext cx="175883" cy="177487"/>
          </a:xfrm>
          <a:prstGeom prst="star4">
            <a:avLst/>
          </a:prstGeom>
          <a:solidFill>
            <a:srgbClr val="FF5D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fr-FR" sz="1351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65810" y="1695005"/>
            <a:ext cx="235400" cy="202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43456" y="1961119"/>
            <a:ext cx="235400" cy="202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01517" y="6155295"/>
            <a:ext cx="235400" cy="202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09327" y="6433059"/>
            <a:ext cx="235400" cy="202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80072" y="6155295"/>
            <a:ext cx="235400" cy="202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03513" y="2778170"/>
            <a:ext cx="235400" cy="202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87909" y="6433059"/>
            <a:ext cx="235400" cy="202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4</a:t>
            </a:r>
          </a:p>
        </p:txBody>
      </p:sp>
      <p:sp>
        <p:nvSpPr>
          <p:cNvPr id="71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3827082" y="6418708"/>
            <a:ext cx="25287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fr-FR" sz="9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Développement agile </a:t>
            </a:r>
          </a:p>
        </p:txBody>
      </p:sp>
      <p:sp>
        <p:nvSpPr>
          <p:cNvPr id="72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6073902" y="6168108"/>
            <a:ext cx="25287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fr-FR" sz="9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Recette itérative 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26892" y="6192279"/>
            <a:ext cx="235400" cy="202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34729" y="6470043"/>
            <a:ext cx="235400" cy="202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52037" y="2677105"/>
            <a:ext cx="235400" cy="202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59874" y="2954869"/>
            <a:ext cx="235400" cy="202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90454" y="6203359"/>
            <a:ext cx="235400" cy="202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798291" y="6481123"/>
            <a:ext cx="235400" cy="202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99918" y="2453858"/>
            <a:ext cx="224722" cy="20213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25804" y="2751074"/>
            <a:ext cx="176036" cy="16484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21409" y="3036051"/>
            <a:ext cx="222891" cy="21533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8</a:t>
            </a:r>
          </a:p>
        </p:txBody>
      </p:sp>
      <p:sp>
        <p:nvSpPr>
          <p:cNvPr id="91" name="Flèche : chevron 183">
            <a:extLst>
              <a:ext uri="{FF2B5EF4-FFF2-40B4-BE49-F238E27FC236}">
                <a16:creationId xmlns:a16="http://schemas.microsoft.com/office/drawing/2014/main" id="{A1CDBF63-AF39-58DF-320C-048C0353E970}"/>
              </a:ext>
            </a:extLst>
          </p:cNvPr>
          <p:cNvSpPr/>
          <p:nvPr/>
        </p:nvSpPr>
        <p:spPr>
          <a:xfrm>
            <a:off x="7524991" y="4124611"/>
            <a:ext cx="616248" cy="821317"/>
          </a:xfrm>
          <a:prstGeom prst="chevron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fr-FR" sz="135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DF6ECC48-BAFD-9377-6F79-162AD2225BF0}"/>
              </a:ext>
            </a:extLst>
          </p:cNvPr>
          <p:cNvSpPr txBox="1"/>
          <p:nvPr/>
        </p:nvSpPr>
        <p:spPr>
          <a:xfrm>
            <a:off x="7638357" y="5588733"/>
            <a:ext cx="1107459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>
              <a:defRPr/>
            </a:pPr>
            <a:r>
              <a:rPr lang="fr-FR" sz="825" b="1" dirty="0">
                <a:solidFill>
                  <a:schemeClr val="tx2"/>
                </a:solidFill>
                <a:latin typeface="Calibri"/>
              </a:rPr>
              <a:t>Généralisation </a:t>
            </a:r>
          </a:p>
        </p:txBody>
      </p:sp>
      <p:cxnSp>
        <p:nvCxnSpPr>
          <p:cNvPr id="93" name="Connecteur droit 92"/>
          <p:cNvCxnSpPr>
            <a:stCxn id="91" idx="3"/>
            <a:endCxn id="62" idx="0"/>
          </p:cNvCxnSpPr>
          <p:nvPr/>
        </p:nvCxnSpPr>
        <p:spPr>
          <a:xfrm flipH="1">
            <a:off x="8122984" y="4535270"/>
            <a:ext cx="18255" cy="713051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7542801" y="2505191"/>
            <a:ext cx="222891" cy="21533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56631" y="3649888"/>
            <a:ext cx="295873" cy="16879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10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59702" y="4359856"/>
            <a:ext cx="298980" cy="21963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11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84375" y="5335370"/>
            <a:ext cx="304076" cy="23982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12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78385" y="6196756"/>
            <a:ext cx="222891" cy="21533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79081" y="6481123"/>
            <a:ext cx="300370" cy="243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10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597461" y="6152998"/>
            <a:ext cx="337344" cy="26571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11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607881" y="6470043"/>
            <a:ext cx="326924" cy="25474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12</a:t>
            </a:r>
          </a:p>
        </p:txBody>
      </p:sp>
      <p:sp>
        <p:nvSpPr>
          <p:cNvPr id="96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9377929" y="6187840"/>
            <a:ext cx="11666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fr-FR" sz="8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Mise en production</a:t>
            </a:r>
          </a:p>
        </p:txBody>
      </p:sp>
      <p:sp>
        <p:nvSpPr>
          <p:cNvPr id="97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9479451" y="6514391"/>
            <a:ext cx="11666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fr-FR" sz="8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Migration des données </a:t>
            </a:r>
          </a:p>
        </p:txBody>
      </p:sp>
      <p:sp>
        <p:nvSpPr>
          <p:cNvPr id="98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10964380" y="6187840"/>
            <a:ext cx="11666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fr-FR" sz="8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Tests Pilote</a:t>
            </a:r>
          </a:p>
        </p:txBody>
      </p:sp>
      <p:sp>
        <p:nvSpPr>
          <p:cNvPr id="99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10999132" y="6464994"/>
            <a:ext cx="11666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fr-FR" sz="8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Généralisation </a:t>
            </a:r>
          </a:p>
        </p:txBody>
      </p:sp>
      <p:cxnSp>
        <p:nvCxnSpPr>
          <p:cNvPr id="4" name="Connecteur droit 3"/>
          <p:cNvCxnSpPr/>
          <p:nvPr/>
        </p:nvCxnSpPr>
        <p:spPr>
          <a:xfrm>
            <a:off x="346636" y="6203359"/>
            <a:ext cx="344244" cy="0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Connecteur droit 101"/>
          <p:cNvCxnSpPr/>
          <p:nvPr/>
        </p:nvCxnSpPr>
        <p:spPr>
          <a:xfrm flipV="1">
            <a:off x="346636" y="6433059"/>
            <a:ext cx="344244" cy="1"/>
          </a:xfrm>
          <a:prstGeom prst="line">
            <a:avLst/>
          </a:prstGeom>
          <a:ln w="19050" cap="flat" cmpd="sng" algn="ctr">
            <a:solidFill>
              <a:schemeClr val="accent4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3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671393" y="6298548"/>
            <a:ext cx="25287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fr-FR" sz="9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Lot 2 </a:t>
            </a:r>
          </a:p>
        </p:txBody>
      </p:sp>
      <p:sp>
        <p:nvSpPr>
          <p:cNvPr id="104" name="TextBox 4079">
            <a:extLst>
              <a:ext uri="{FF2B5EF4-FFF2-40B4-BE49-F238E27FC236}">
                <a16:creationId xmlns:a16="http://schemas.microsoft.com/office/drawing/2014/main" id="{99E3F133-E4E6-897B-E823-A642AE52B4C4}"/>
              </a:ext>
            </a:extLst>
          </p:cNvPr>
          <p:cNvSpPr txBox="1"/>
          <p:nvPr/>
        </p:nvSpPr>
        <p:spPr>
          <a:xfrm>
            <a:off x="671393" y="6105239"/>
            <a:ext cx="25287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fr-FR" sz="9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Lot 3</a:t>
            </a:r>
          </a:p>
        </p:txBody>
      </p:sp>
    </p:spTree>
    <p:extLst>
      <p:ext uri="{BB962C8B-B14F-4D97-AF65-F5344CB8AC3E}">
        <p14:creationId xmlns:p14="http://schemas.microsoft.com/office/powerpoint/2010/main" val="216426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14259</TotalTime>
  <Words>1755</Words>
  <Application>Microsoft Office PowerPoint</Application>
  <PresentationFormat>Grand écran</PresentationFormat>
  <Paragraphs>585</Paragraphs>
  <Slides>15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Aptos Narrow</vt:lpstr>
      <vt:lpstr>Arial</vt:lpstr>
      <vt:lpstr>Calibri</vt:lpstr>
      <vt:lpstr>Calibri Light</vt:lpstr>
      <vt:lpstr>Times New Roman</vt:lpstr>
      <vt:lpstr>Wingdings</vt:lpstr>
      <vt:lpstr>Thème Office</vt:lpstr>
      <vt:lpstr>Worksheet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Salwa NANA</dc:creator>
  <cp:lastModifiedBy>Salwa NANA</cp:lastModifiedBy>
  <cp:revision>125</cp:revision>
  <dcterms:created xsi:type="dcterms:W3CDTF">2026-03-03T13:18:49Z</dcterms:created>
  <dcterms:modified xsi:type="dcterms:W3CDTF">2026-03-30T10:04:55Z</dcterms:modified>
</cp:coreProperties>
</file>